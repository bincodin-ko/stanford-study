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3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62f1d2d-b020-daf7-902a-42ab7d009a70}">
          <p14:sldIdLst>
            <p14:sldId id="256"/>
            <p14:sldId id="257"/>
          </p14:sldIdLst>
        </p14:section>
        <p14:section name="큰 그림" id="{ca511d00-fdce-5534-cf04-053994f88586}">
          <p14:sldIdLst>
            <p14:sldId id="258"/>
            <p14:sldId id="259"/>
            <p14:sldId id="260"/>
            <p14:sldId id="261"/>
            <p14:sldId id="262"/>
          </p14:sldIdLst>
        </p14:section>
        <p14:section name="만들기" id="{c0ab6f67-c53a-a550-5b28-6d19566e9f89}">
          <p14:sldIdLst>
            <p14:sldId id="263"/>
            <p14:sldId id="264"/>
          </p14:sldIdLst>
        </p14:section>
        <p14:section name="운영하기" id="{72b97fc9-fe85-a14e-0637-9e0d4b4916c0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키우기" id="{2b160383-9948-a0be-4885-9726f619c0d7}">
          <p14:sldIdLst>
            <p14:sldId id="275"/>
            <p14:sldId id="276"/>
          </p14:sldIdLst>
        </p14:section>
        <p14:section name="실전" id="{37311cba-b8de-7d1f-7a39-b28535c5c41c}">
          <p14:sldIdLst>
            <p14:sldId id="277"/>
          </p14:sldIdLst>
        </p14:section>
        <p14:section name="여러 가지 사이트 사업" id="{97e83ed0-de60-2b70-ddde-cbf260b9f8bc}">
          <p14:sldIdLst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더 넓은 분류" id="{84e699dd-31c9-eb63-e4af-b92f90a8f477}">
          <p14:sldIdLst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문의·광고 받기" id="{1eeea82e-b56a-1fc9-290e-1b703f55b42d}">
          <p14:sldIdLst>
            <p14:sldId id="292"/>
            <p14:sldId id="293"/>
            <p14:sldId id="294"/>
            <p14:sldId id="295"/>
            <p14:sldId id="296"/>
          </p14:sldIdLst>
        </p14:section>
        <p14:section name="마케팅 실전" id="{8b979e47-3868-3c2e-70e5-dff5178a69ac}">
          <p14:sldIdLst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도메인" id="{c2d031c8-7983-0038-9f5b-d35bc5616fbe}">
          <p14:sldIdLst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출시 준비" id="{b9777a5d-dec2-0151-15f1-5b57b927ed4e}">
          <p14:sldIdLst>
            <p14:sldId id="310"/>
            <p14:sldId id="311"/>
            <p14:sldId id="312"/>
            <p14:sldId id="313"/>
            <p14:sldId id="314"/>
            <p14:sldId id="3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1만 원짜리 간식 1개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금액(원)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판매가</c:v>
                  </c:pt>
                  <c:pt idx="1">
                    <c:v>재료·포장</c:v>
                  </c:pt>
                  <c:pt idx="2">
                    <c:v>택배비</c:v>
                  </c:pt>
                  <c:pt idx="3">
                    <c:v>결제 수수료</c:v>
                  </c:pt>
                  <c:pt idx="4">
                    <c:v>남는 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3500</c:v>
                </c:pt>
                <c:pt idx="2">
                  <c:v>3000</c:v>
                </c:pt>
                <c:pt idx="3">
                  <c:v>300</c:v>
                </c:pt>
                <c:pt idx="4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퍼널: 단계마다 손님이 줄어든다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명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방문</c:v>
                  </c:pt>
                  <c:pt idx="1">
                    <c:v>상품 보기</c:v>
                  </c:pt>
                  <c:pt idx="2">
                    <c:v>장바구니</c:v>
                  </c:pt>
                  <c:pt idx="3">
                    <c:v>결제 시작</c:v>
                  </c:pt>
                  <c:pt idx="4">
                    <c:v>결제 완료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4000</c:v>
                </c:pt>
                <c:pt idx="2">
                  <c:v>800</c:v>
                </c:pt>
                <c:pt idx="3">
                  <c:v>400</c:v>
                </c:pt>
                <c:pt idx="4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월 1만 원 구독 서비스 (예시)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원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53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구독료</c:v>
                  </c:pt>
                  <c:pt idx="1">
                    <c:v>적게 쓰는 손님 AI 비용</c:v>
                  </c:pt>
                  <c:pt idx="2">
                    <c:v>많이 쓰는 손님 AI 비용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</c:v>
                </c:pt>
                <c:pt idx="1">
                  <c:v>3000</c:v>
                </c:pt>
                <c:pt idx="2">
                  <c:v>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 폴더의 15장 글을 한 장씩 요약한 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인터넷 사업 101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사이트를 만들고, 고치고, 지키고, 키우는 법 — 입문부터 실전까지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이 덱의 흐름: 5단계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1005840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큰 그림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사업 종류 · 수익 모델 · 용어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1–3장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2121408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670048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0048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12848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기획 · 사이트 구조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4–5장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785616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accent2"/>
          </a:solidFill>
          <a:ln/>
        </p:spPr>
      </p:sp>
      <p:sp>
        <p:nvSpPr>
          <p:cNvPr id="16" name="badge3"/>
          <p:cNvSpPr/>
          <p:nvPr/>
        </p:nvSpPr>
        <p:spPr>
          <a:xfrm>
            <a:off x="4334256" y="155448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34256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운영하기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환경 · 배포 · 백업 · 장애 · 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6–10장</a:t>
            </a:r>
            <a:endParaRPr lang="en-US" sz="1100" dirty="0"/>
          </a:p>
        </p:txBody>
      </p:sp>
      <p:sp>
        <p:nvSpPr>
          <p:cNvPr id="21" name="card"/>
          <p:cNvSpPr/>
          <p:nvPr/>
        </p:nvSpPr>
        <p:spPr>
          <a:xfrm>
            <a:off x="5449824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5998464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98464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41264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키우기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59552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마케팅 · 데이터 · B2B/B2C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541264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11–12장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7114032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8" name="badge5"/>
          <p:cNvSpPr/>
          <p:nvPr/>
        </p:nvSpPr>
        <p:spPr>
          <a:xfrm>
            <a:off x="7662672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2672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205472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실전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23760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시뮬레이션 · 체크리스트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205472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13–15장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가운데 '운영하기'가 이 공부의 중심입니다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누가 누구에게 파는가: B · C · G</a:t>
            </a:r>
            <a:endParaRPr lang="en-US" sz="2800" dirty="0"/>
          </a:p>
        </p:txBody>
      </p:sp>
      <p:sp>
        <p:nvSpPr>
          <p:cNvPr id="3" name="letterB"/>
          <p:cNvSpPr/>
          <p:nvPr/>
        </p:nvSpPr>
        <p:spPr>
          <a:xfrm>
            <a:off x="457200" y="12344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기업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Business</a:t>
            </a:r>
            <a:endParaRPr lang="en-US" sz="1400" dirty="0"/>
          </a:p>
        </p:txBody>
      </p:sp>
      <p:sp>
        <p:nvSpPr>
          <p:cNvPr id="6" name="letterC"/>
          <p:cNvSpPr/>
          <p:nvPr/>
        </p:nvSpPr>
        <p:spPr>
          <a:xfrm>
            <a:off x="457200" y="22860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개인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Consumer</a:t>
            </a:r>
            <a:endParaRPr lang="en-US" sz="1400" dirty="0"/>
          </a:p>
        </p:txBody>
      </p:sp>
      <p:sp>
        <p:nvSpPr>
          <p:cNvPr id="9" name="letterG"/>
          <p:cNvSpPr/>
          <p:nvPr/>
        </p:nvSpPr>
        <p:spPr>
          <a:xfrm>
            <a:off x="457200" y="333756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429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정부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Government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338328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044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개인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쇼핑몰, 넷플릭스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608076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슬랙, 회계 프로그램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338328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044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C2C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개인 → 개인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당근마켓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08076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B2B2C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 → 개인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338328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044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D2C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제조사 → 개인 직접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2044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브랜드 자사몰</a:t>
            </a:r>
            <a:endParaRPr lang="en-US" sz="1200" dirty="0"/>
          </a:p>
        </p:txBody>
      </p:sp>
      <p:sp>
        <p:nvSpPr>
          <p:cNvPr id="32" name="card"/>
          <p:cNvSpPr/>
          <p:nvPr/>
        </p:nvSpPr>
        <p:spPr>
          <a:xfrm>
            <a:off x="608076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B2G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정부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1792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공공 입찰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B2C는 '많이·싸게·빨리', B2B는 '적게·비싸게·꼼꼼히'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직접 파나, 장터를 깔아 주나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head0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직접 판매 (자사몰)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내 물건을 내가 판다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판매가 − 원가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부담: 재고, 배송, 반품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브랜드 자사몰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head1"/>
          <p:cNvSpPr/>
          <p:nvPr/>
        </p:nvSpPr>
        <p:spPr>
          <a:xfrm>
            <a:off x="466344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플랫폼 (마켓플레이스)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남의 물건이 팔리는 장터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거래액의 몇 % 수수료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숙제: 판매자와 손님을 동시에 모으기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에어비앤비, 크몽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돈 버는 방법 4대장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판매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물건을 팔고 차익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256032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74320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구독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매달 정기 결제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넷플릭스, SaaS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66344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badge3"/>
          <p:cNvSpPr/>
          <p:nvPr/>
        </p:nvSpPr>
        <p:spPr>
          <a:xfrm>
            <a:off x="484632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수수료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거래마다 몇 % 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배달앱, 에어비앤비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76656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694944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광고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방문자에게 광고 노출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블로그, 유튜브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그 밖에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프리미엄(기본 무료) · 사용량 과금 · 리드 판매 · 제휴 마케팅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매출보다 '1개 팔 때 남는 돈'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광고로 손님 1명 데려오는 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5,000원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06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들면, 첫 구매만으로는 1,800원 손해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383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재구매와 객단가 올리기가 중요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먼저 외울 용어 12개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MVP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핵심만 넣은 첫 버전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2542032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79192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KPI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잘하고 있나 판단하는 숫자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26864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64024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전환율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방문자 중 구매 비율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711696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8856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객단가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주문 1건 평균 금액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CAC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 데려오는 비용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2542032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679192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LTV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679192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1명이 평생 내는 돈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4626864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64024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Churn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764024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구독 해지 비율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711696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MRR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매달 반복 매출</a:t>
            </a:r>
            <a:endParaRPr lang="en-US" sz="1200" dirty="0"/>
          </a:p>
        </p:txBody>
      </p:sp>
      <p:sp>
        <p:nvSpPr>
          <p:cNvPr id="27" name="card"/>
          <p:cNvSpPr/>
          <p:nvPr/>
        </p:nvSpPr>
        <p:spPr>
          <a:xfrm>
            <a:off x="457200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ROAS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광고비 1원당 매출</a:t>
            </a:r>
            <a:endParaRPr lang="en-US" sz="1200" dirty="0"/>
          </a:p>
        </p:txBody>
      </p:sp>
      <p:sp>
        <p:nvSpPr>
          <p:cNvPr id="30" name="card"/>
          <p:cNvSpPr/>
          <p:nvPr/>
        </p:nvSpPr>
        <p:spPr>
          <a:xfrm>
            <a:off x="2542032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9192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679192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검색에 잘 뜨게 하기</a:t>
            </a:r>
            <a:endParaRPr lang="en-US" sz="1200" dirty="0"/>
          </a:p>
        </p:txBody>
      </p:sp>
      <p:sp>
        <p:nvSpPr>
          <p:cNvPr id="33" name="card"/>
          <p:cNvSpPr/>
          <p:nvPr/>
        </p:nvSpPr>
        <p:spPr>
          <a:xfrm>
            <a:off x="4626864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64024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배포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764024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고친 걸 실제 사이트에 반영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6711696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48856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롤백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이전 버전으로 되돌리기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목록은 docs/03-glossary.md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기획에서 출시까지, 그리고 반복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문제 확인</a:t>
            </a:r>
            <a:endParaRPr lang="en-US" sz="1200" dirty="0"/>
          </a:p>
        </p:txBody>
      </p:sp>
      <p:sp>
        <p:nvSpPr>
          <p:cNvPr id="6" name="arrow0"/>
          <p:cNvSpPr/>
          <p:nvPr/>
        </p:nvSpPr>
        <p:spPr>
          <a:xfrm>
            <a:off x="1133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1572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72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정의</a:t>
            </a:r>
            <a:endParaRPr lang="en-US" sz="1200" dirty="0"/>
          </a:p>
        </p:txBody>
      </p:sp>
      <p:sp>
        <p:nvSpPr>
          <p:cNvPr id="10" name="arrow1"/>
          <p:cNvSpPr/>
          <p:nvPr/>
        </p:nvSpPr>
        <p:spPr>
          <a:xfrm>
            <a:off x="2048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2487168" y="1554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87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기능 목록</a:t>
            </a:r>
            <a:endParaRPr lang="en-US" sz="1200" dirty="0"/>
          </a:p>
        </p:txBody>
      </p:sp>
      <p:sp>
        <p:nvSpPr>
          <p:cNvPr id="14" name="arrow2"/>
          <p:cNvSpPr/>
          <p:nvPr/>
        </p:nvSpPr>
        <p:spPr>
          <a:xfrm>
            <a:off x="2962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3401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1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82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화면 설계</a:t>
            </a:r>
            <a:endParaRPr lang="en-US" sz="1200" dirty="0"/>
          </a:p>
        </p:txBody>
      </p:sp>
      <p:sp>
        <p:nvSpPr>
          <p:cNvPr id="18" name="arrow3"/>
          <p:cNvSpPr/>
          <p:nvPr/>
        </p:nvSpPr>
        <p:spPr>
          <a:xfrm>
            <a:off x="38770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43159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159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디자인</a:t>
            </a:r>
            <a:endParaRPr lang="en-US" sz="1200" dirty="0"/>
          </a:p>
        </p:txBody>
      </p:sp>
      <p:sp>
        <p:nvSpPr>
          <p:cNvPr id="22" name="arrow4"/>
          <p:cNvSpPr/>
          <p:nvPr/>
        </p:nvSpPr>
        <p:spPr>
          <a:xfrm>
            <a:off x="47914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badge6"/>
          <p:cNvSpPr/>
          <p:nvPr/>
        </p:nvSpPr>
        <p:spPr>
          <a:xfrm>
            <a:off x="5230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30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10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개발</a:t>
            </a:r>
            <a:endParaRPr lang="en-US" sz="1200" dirty="0"/>
          </a:p>
        </p:txBody>
      </p:sp>
      <p:sp>
        <p:nvSpPr>
          <p:cNvPr id="26" name="arrow5"/>
          <p:cNvSpPr/>
          <p:nvPr/>
        </p:nvSpPr>
        <p:spPr>
          <a:xfrm>
            <a:off x="5705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7" name="badge7"/>
          <p:cNvSpPr/>
          <p:nvPr/>
        </p:nvSpPr>
        <p:spPr>
          <a:xfrm>
            <a:off x="6144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25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테스트</a:t>
            </a:r>
            <a:endParaRPr lang="en-US" sz="1200" dirty="0"/>
          </a:p>
        </p:txBody>
      </p:sp>
      <p:sp>
        <p:nvSpPr>
          <p:cNvPr id="30" name="arrow6"/>
          <p:cNvSpPr/>
          <p:nvPr/>
        </p:nvSpPr>
        <p:spPr>
          <a:xfrm>
            <a:off x="6620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badge8"/>
          <p:cNvSpPr/>
          <p:nvPr/>
        </p:nvSpPr>
        <p:spPr>
          <a:xfrm>
            <a:off x="70591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059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839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출시</a:t>
            </a:r>
            <a:endParaRPr lang="en-US" sz="1200" dirty="0"/>
          </a:p>
        </p:txBody>
      </p:sp>
      <p:sp>
        <p:nvSpPr>
          <p:cNvPr id="34" name="arrow7"/>
          <p:cNvSpPr/>
          <p:nvPr/>
        </p:nvSpPr>
        <p:spPr>
          <a:xfrm>
            <a:off x="7534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5" name="badge9"/>
          <p:cNvSpPr/>
          <p:nvPr/>
        </p:nvSpPr>
        <p:spPr>
          <a:xfrm>
            <a:off x="7973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973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54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측정·개선</a:t>
            </a:r>
            <a:endParaRPr lang="en-US" sz="1200" dirty="0"/>
          </a:p>
        </p:txBody>
      </p:sp>
      <p:sp>
        <p:nvSpPr>
          <p:cNvPr id="38" name="loop"/>
          <p:cNvSpPr/>
          <p:nvPr/>
        </p:nvSpPr>
        <p:spPr>
          <a:xfrm>
            <a:off x="2286000" y="2971800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377440" y="2971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⑨ 측정 결과를 보고 ③ 기능 목록으로 돌아가 다시 고친다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첫 출시는 Must 기능만 (MVP)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쇼핑몰이면: 상품 보기 · 장바구니 · 결제 · 주문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사이트는 세 덩어리, 지키는 방법도 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코드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화면, 프로그램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내가 고칠 때만 바뀜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Git (버전 관리)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24612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1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데이터(DB)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회원, 주문, 결제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매초 바뀜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DB 자동 백업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03504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8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파일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상품 사진, 첨부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상품 올릴 때 바뀜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저장소 백업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폴더를 통째로 복사해도 주문·회원 정보(DB)는 빠져 있는 경우가 많다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'백업 폴더 만들어서 고치나요?'에 대한 답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초보자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myshop_backup/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myshop_최종_진짜최종_수정2/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무엇이 바뀌었는지 모르고, DB는 빠져 있음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8" name="card"/>
          <p:cNvSpPr/>
          <p:nvPr/>
        </p:nvSpPr>
        <p:spPr>
          <a:xfrm>
            <a:off x="4389120" y="1188720"/>
            <a:ext cx="42976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현업 방식</a:t>
            </a:r>
            <a:endParaRPr lang="en-US" sz="1600" dirty="0"/>
          </a:p>
        </p:txBody>
      </p:sp>
      <p:sp>
        <p:nvSpPr>
          <p:cNvPr id="10" name="badge1"/>
          <p:cNvSpPr/>
          <p:nvPr/>
        </p:nvSpPr>
        <p:spPr>
          <a:xfrm>
            <a:off x="461772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환경을 나눈다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연습용 사이트(스테이징)에서 먼저 고친다</a:t>
            </a:r>
            <a:endParaRPr lang="en-US" sz="1500" dirty="0"/>
          </a:p>
        </p:txBody>
      </p:sp>
      <p:sp>
        <p:nvSpPr>
          <p:cNvPr id="13" name="badge2"/>
          <p:cNvSpPr/>
          <p:nvPr/>
        </p:nvSpPr>
        <p:spPr>
          <a:xfrm>
            <a:off x="4617720" y="26517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0604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Git으로 기록한다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모든 변경을 저장, 언제든 되돌린다</a:t>
            </a:r>
            <a:endParaRPr lang="en-US" sz="1500" dirty="0"/>
          </a:p>
        </p:txBody>
      </p:sp>
      <p:sp>
        <p:nvSpPr>
          <p:cNvPr id="16" name="badge3"/>
          <p:cNvSpPr/>
          <p:nvPr/>
        </p:nvSpPr>
        <p:spPr>
          <a:xfrm>
            <a:off x="4617720" y="3474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4290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DB는 따로 백업한다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손님 데이터는 자동 백업으로 지킨다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환경 3개: 운영 사이트는 직접 고치지 않는다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로컬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연습장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나만 봄. 마음껏 고치고 부수기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7180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card"/>
          <p:cNvSpPr/>
          <p:nvPr/>
        </p:nvSpPr>
        <p:spPr>
          <a:xfrm>
            <a:off x="333756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044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스테이징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리허설 무대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운영과 똑같이. 최종 확인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card"/>
          <p:cNvSpPr/>
          <p:nvPr/>
        </p:nvSpPr>
        <p:spPr>
          <a:xfrm>
            <a:off x="621792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운영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실제 무대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진짜 손님. 직접 수정 금지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빌더(카페24·아임웹)라면?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기존 디자인 스킨을 복사 → 복사본에서 수정 → 확인 후 '대표 디자인으로 적용' = 같은 개념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Git은 게임 세이브와 같다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457200" y="125272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커밋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18872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 포인트에 저장</a:t>
            </a:r>
            <a:endParaRPr lang="en-US" sz="1300" dirty="0"/>
          </a:p>
        </p:txBody>
      </p:sp>
      <p:sp>
        <p:nvSpPr>
          <p:cNvPr id="7" name="badge2"/>
          <p:cNvSpPr/>
          <p:nvPr/>
        </p:nvSpPr>
        <p:spPr>
          <a:xfrm>
            <a:off x="457200" y="19110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4708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브랜치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847088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복사해 다른 선택지 시험</a:t>
            </a:r>
            <a:endParaRPr lang="en-US" sz="1300" dirty="0"/>
          </a:p>
        </p:txBody>
      </p:sp>
      <p:sp>
        <p:nvSpPr>
          <p:cNvPr id="11" name="badge3"/>
          <p:cNvSpPr/>
          <p:nvPr/>
        </p:nvSpPr>
        <p:spPr>
          <a:xfrm>
            <a:off x="457200" y="256946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505456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머지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50545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좋은 선택지를 본 세이브에 합치기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457200" y="322783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163824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되돌리기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1638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이전 세이브 포인트로 돌아가기</a:t>
            </a:r>
            <a:endParaRPr lang="en-US" sz="1300" dirty="0"/>
          </a:p>
        </p:txBody>
      </p:sp>
      <p:sp>
        <p:nvSpPr>
          <p:cNvPr id="19" name="badge5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82219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382219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인터넷 금고에 보관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5120640" y="1188720"/>
            <a:ext cx="35661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3492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흔한 작업 순서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17830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main에서 브랜치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브랜치에서 고치고 커밋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스테이징에서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 머지 → 배포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문제 시 이전 커밋으로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업데이트(배포) 표준 절차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8046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무엇을 왜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16459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19933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933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백업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DB + 현재 버전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283464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18211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821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스테이징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핵심 흐름 확인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02336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437083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708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시간 고르기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손님 적을 때</a:t>
            </a:r>
            <a:endParaRPr lang="en-US" sz="1100" dirty="0"/>
          </a:p>
        </p:txBody>
      </p:sp>
      <p:sp>
        <p:nvSpPr>
          <p:cNvPr id="23" name="card"/>
          <p:cNvSpPr/>
          <p:nvPr/>
        </p:nvSpPr>
        <p:spPr>
          <a:xfrm>
            <a:off x="521208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accent2"/>
          </a:solidFill>
          <a:ln/>
        </p:spPr>
      </p:sp>
      <p:sp>
        <p:nvSpPr>
          <p:cNvPr id="24" name="badge5"/>
          <p:cNvSpPr/>
          <p:nvPr/>
        </p:nvSpPr>
        <p:spPr>
          <a:xfrm>
            <a:off x="5559552" y="1417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595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배포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8" name="card"/>
          <p:cNvSpPr/>
          <p:nvPr/>
        </p:nvSpPr>
        <p:spPr>
          <a:xfrm>
            <a:off x="64008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7482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482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확인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10–30분 감시</a:t>
            </a:r>
            <a:endParaRPr lang="en-US" sz="1100" dirty="0"/>
          </a:p>
        </p:txBody>
      </p:sp>
      <p:sp>
        <p:nvSpPr>
          <p:cNvPr id="33" name="card"/>
          <p:cNvSpPr/>
          <p:nvPr/>
        </p:nvSpPr>
        <p:spPr>
          <a:xfrm>
            <a:off x="75895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34" name="badge7"/>
          <p:cNvSpPr/>
          <p:nvPr/>
        </p:nvSpPr>
        <p:spPr>
          <a:xfrm>
            <a:off x="79369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9369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릴리스 노트</a:t>
            </a:r>
            <a:endParaRPr lang="en-US" sz="1100" dirty="0"/>
          </a:p>
        </p:txBody>
      </p:sp>
      <p:sp>
        <p:nvSpPr>
          <p:cNvPr id="38" name="card"/>
          <p:cNvSpPr/>
          <p:nvPr/>
        </p:nvSpPr>
        <p:spPr>
          <a:xfrm>
            <a:off x="457200" y="315468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먼저 되돌리고, 나중에 고친다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배포 후 문제가 생기면 원인부터 찾지 말고 롤백. 금요일 저녁·이벤트 직전 배포는 피하기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손님 몰래 바꾸는 3가지 기술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블루-그린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무대 두 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새 버전을 옆에 띄우고 손님 입구만 바꿈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입구를 원래대로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카나리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조금씩 공개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손님 1% → 10% → 100% 순서로 보여 줌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비율을 0%로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기능 플래그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전등 스위치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기능을 미리 배포해 두고 스위치로 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스위치 끄기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백업의 기본 공식: 3-2-1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개의 복사본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원본 + 백업 2개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2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가지 저장 장치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한 장치가 고장 나도 안전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1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개는 다른 장소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해킹·화재에도 살아남게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복구해 봐야 진짜 백업.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분기마다 백업을 연습용 사이트에 되살려 보고 걸린 시간을 잰다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얼마나 잃어도 되나: RPO와 RTO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RPO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치 데이터를 잃어도 되나?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백업을 더 자주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RTO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안에 다시 살려야 하나?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복구 절차 문서화·연습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사이트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RPO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RTO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블로그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쇼핑몰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1시간 이하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몇 시간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B2B SaaS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모니터링과 장애 대응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자동으로 지켜볼 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사이트가 살아 있나 (1–5분마다)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오류가 늘었나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느려졌나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서버가 힘든가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주문이 너무 적지 않나 ← 의외로 중요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장애가 나면 5단계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78308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알아채기</a:t>
            </a:r>
            <a:endParaRPr lang="en-US" sz="1400" dirty="0"/>
          </a:p>
        </p:txBody>
      </p:sp>
      <p:sp>
        <p:nvSpPr>
          <p:cNvPr id="10" name="badge2"/>
          <p:cNvSpPr/>
          <p:nvPr/>
        </p:nvSpPr>
        <p:spPr>
          <a:xfrm>
            <a:off x="4800600" y="22860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알리기 (공지)</a:t>
            </a:r>
            <a:endParaRPr lang="en-US" sz="1400" dirty="0"/>
          </a:p>
        </p:txBody>
      </p:sp>
      <p:sp>
        <p:nvSpPr>
          <p:cNvPr id="13" name="badge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멈추기 (롤백)</a:t>
            </a:r>
            <a:endParaRPr lang="en-US" sz="1400" dirty="0"/>
          </a:p>
        </p:txBody>
      </p:sp>
      <p:sp>
        <p:nvSpPr>
          <p:cNvPr id="16" name="badge4"/>
          <p:cNvSpPr/>
          <p:nvPr/>
        </p:nvSpPr>
        <p:spPr>
          <a:xfrm>
            <a:off x="4800600" y="329184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006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고치기</a:t>
            </a:r>
            <a:endParaRPr lang="en-US" sz="1400" dirty="0"/>
          </a:p>
        </p:txBody>
      </p:sp>
      <p:sp>
        <p:nvSpPr>
          <p:cNvPr id="19" name="badge5"/>
          <p:cNvSpPr/>
          <p:nvPr/>
        </p:nvSpPr>
        <p:spPr>
          <a:xfrm>
            <a:off x="4800600" y="379476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돌아보기 (포스트모템)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작은 사이트도 공격당한다: 보안 기본 6가지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2단계 인증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비밀번호가 털려도 로그인 불가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최신 업데이트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알려진 구멍 막기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최소 권한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직원에겐 필요한 메뉴만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퇴사자 계정 삭제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의외로 사고가 많은 곳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324612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카드번호 저장 안 하기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결제는 PG사에 맡기기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03504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다른 곳에 백업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랜섬웨어 대비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한국에서 쇼핑몰을 시작하는 순서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86868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사업자등록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홈택스</a:t>
            </a:r>
            <a:endParaRPr lang="en-US" sz="1100" dirty="0"/>
          </a:p>
        </p:txBody>
      </p:sp>
      <p:sp>
        <p:nvSpPr>
          <p:cNvPr id="7" name="badge2"/>
          <p:cNvSpPr/>
          <p:nvPr/>
        </p:nvSpPr>
        <p:spPr>
          <a:xfrm>
            <a:off x="2258568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5856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847088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통장·카드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47088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사업용</a:t>
            </a:r>
            <a:endParaRPr lang="en-US" sz="1100" dirty="0"/>
          </a:p>
        </p:txBody>
      </p:sp>
      <p:sp>
        <p:nvSpPr>
          <p:cNvPr id="11" name="badge3"/>
          <p:cNvSpPr/>
          <p:nvPr/>
        </p:nvSpPr>
        <p:spPr>
          <a:xfrm>
            <a:off x="3648456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4845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PG + 에스크로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36976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결제 대행</a:t>
            </a:r>
            <a:endParaRPr lang="en-US" sz="1100" dirty="0"/>
          </a:p>
        </p:txBody>
      </p:sp>
      <p:sp>
        <p:nvSpPr>
          <p:cNvPr id="15" name="badge4"/>
          <p:cNvSpPr/>
          <p:nvPr/>
        </p:nvSpPr>
        <p:spPr>
          <a:xfrm>
            <a:off x="5038344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3834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26864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통신판매업 신고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626864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정부24·구청</a:t>
            </a:r>
            <a:endParaRPr lang="en-US" sz="1100" dirty="0"/>
          </a:p>
        </p:txBody>
      </p:sp>
      <p:sp>
        <p:nvSpPr>
          <p:cNvPr id="19" name="badge5"/>
          <p:cNvSpPr/>
          <p:nvPr/>
        </p:nvSpPr>
        <p:spPr>
          <a:xfrm>
            <a:off x="642823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016752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사이트 표시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16752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사업자정보·약관·처리방침</a:t>
            </a:r>
            <a:endParaRPr lang="en-US" sz="1100" dirty="0"/>
          </a:p>
        </p:txBody>
      </p:sp>
      <p:sp>
        <p:nvSpPr>
          <p:cNvPr id="23" name="badge6"/>
          <p:cNvSpPr/>
          <p:nvPr/>
        </p:nvSpPr>
        <p:spPr>
          <a:xfrm>
            <a:off x="781812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영업·세금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부가세·종소세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57200" y="324612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383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개인정보 5원칙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최소 수집 · 동의(마케팅은 따로) · 처리방침 공개 · 안전 보관 · 파기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법은 자주 바뀝니다. 시작 전 홈택스·정부24·개인정보보호위원회에서 재확인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 = 방문자 × 전환율 × 객단가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전환율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2%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51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상품 보기 → 장바구니에서 가장 많이 빠진다 (4,000 → 800)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가장 많이 빠지는 단계부터 고친다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B2C와 B2B는 운영이 다르다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B2C (개인)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B2B (기업)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손님 수 · 금액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많고 작다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적고 크다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사기까지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초 ~ 며칠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주 ~ 몇 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결정하는 사람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본인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명 (팀장·구매·보안)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카드 즉시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세금계산서 · 연간 계약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SNS 광고 · 후기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 · 사례 · 세미나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운영 핵심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광고 효율 · 재구매 · CS 대량 처리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SLA · 온보딩 · 고객 성공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리듬: 언제 무엇을 점검하나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매일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주문·문의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모니터링 알림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어제 매출·광고비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매주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백업 성공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데이터 내보내기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보안 업데이트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매월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도메인·카드 만료일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안 쓰는 계정 정리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월 손익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분기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복구 훈련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비밀번호 교체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약관 점검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점검표는 docs/14-checklists.md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여러 가지 사이트 사업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커뮤니티 · 정보 사이트 · 트래픽 수익 · 로또 사이트 · 게임(오목) · 아이템 비교 — 16–21장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커뮤니티: 회원이 콘텐츠를 만든다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887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글을 열심히 쓴다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457200" y="224028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9%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가끔 댓글을 단다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329184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90%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읽기만 한다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운영의 핵심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6916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주제를 좁게, 처음엔 운영자가 직접 글 쓰기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짧고 구체적인 규칙 + 처벌 수준 명시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모든 제재를 기록, 관리자 권한은 최소한만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삭제 요청엔 삭제 또는 임시조치(최대 30일)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수익화는 회원 신뢰를 해치지 않게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정보 사이트: 검색 → 답 → 광고·제휴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100584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</a:t>
            </a:r>
            <a:endParaRPr lang="en-US" sz="1300" dirty="0"/>
          </a:p>
        </p:txBody>
      </p:sp>
      <p:sp>
        <p:nvSpPr>
          <p:cNvPr id="6" name="flow0"/>
          <p:cNvSpPr/>
          <p:nvPr/>
        </p:nvSpPr>
        <p:spPr>
          <a:xfrm>
            <a:off x="151790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269748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9748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내 페이지 노출</a:t>
            </a:r>
            <a:endParaRPr lang="en-US" sz="1300" dirty="0"/>
          </a:p>
        </p:txBody>
      </p:sp>
      <p:sp>
        <p:nvSpPr>
          <p:cNvPr id="10" name="flow1"/>
          <p:cNvSpPr/>
          <p:nvPr/>
        </p:nvSpPr>
        <p:spPr>
          <a:xfrm>
            <a:off x="320954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438912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클릭(트래픽)</a:t>
            </a:r>
            <a:endParaRPr lang="en-US" sz="1300" dirty="0"/>
          </a:p>
        </p:txBody>
      </p:sp>
      <p:sp>
        <p:nvSpPr>
          <p:cNvPr id="14" name="flow2"/>
          <p:cNvSpPr/>
          <p:nvPr/>
        </p:nvSpPr>
        <p:spPr>
          <a:xfrm>
            <a:off x="490118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6080760" y="123444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53212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답 + 광고</a:t>
            </a:r>
            <a:endParaRPr lang="en-US" sz="1300" dirty="0"/>
          </a:p>
        </p:txBody>
      </p:sp>
      <p:sp>
        <p:nvSpPr>
          <p:cNvPr id="18" name="flow3"/>
          <p:cNvSpPr/>
          <p:nvPr/>
        </p:nvSpPr>
        <p:spPr>
          <a:xfrm>
            <a:off x="659282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777240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재방문</a:t>
            </a:r>
            <a:endParaRPr lang="en-US" sz="1300" dirty="0"/>
          </a:p>
        </p:txBody>
      </p:sp>
      <p:sp>
        <p:nvSpPr>
          <p:cNvPr id="22" name="card"/>
          <p:cNvSpPr/>
          <p:nvPr/>
        </p:nvSpPr>
        <p:spPr>
          <a:xfrm>
            <a:off x="45720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약해진 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'OO란?' 같은 단순 정의 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검색에만 의존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글 대량으로 찍어내기 (스팸)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66344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9204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강해진 것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직접 해 본 후기, 나만의 데이터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계산기 같은 도구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뉴스레터·커뮤니티 구독자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AI 요약이 뜨면 사람들이 링크를 덜 누른다 — AI 검색 시대의 변화 (17장)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트래픽 수익 = 페이지뷰 ÷ 1,000 × RPM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10만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페이지뷰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× 2,000원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RPM (예시)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= 20만 원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광고 수익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457200" y="2971800"/>
            <a:ext cx="822960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계정 정지되는 행동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5204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내 광고 내가 클릭 · '광고 눌러 주세요' · 트래픽 구매·봇 · 금지 콘텐츠 · 위장 광고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제휴 링크엔 '수수료를 받는다'는 광고 표시 필수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RPM은 주제·방문자에 따라 수십 배 차이 — 위 숫자는 계산 연습용 예시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로또 사이트: 어디까지 괜찮나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light0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괜찮음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 번호 통계·그래프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랜덤 생성기 ('재미용' 표시)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당첨금 세금 계산기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light1"/>
          <p:cNvSpPr/>
          <p:nvPr/>
        </p:nvSpPr>
        <p:spPr>
          <a:xfrm>
            <a:off x="3429000" y="1353312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3192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주의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'통계 추천 번호'로 효과 과장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번호 미끼로 전화번호 수집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2" name="light2"/>
          <p:cNvSpPr/>
          <p:nvPr/>
        </p:nvSpPr>
        <p:spPr>
          <a:xfrm>
            <a:off x="6217920" y="13533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2084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위험·불법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유료 '당첨 번호 예측'·보장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복권 구매 대행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로또 번호 사설 베팅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모든 번호 조합의 1등 확률은 같다: 8,145,060분의 1.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돈 받고 당첨을 약속하면 선을 넘은 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게임 사이트: 오목으로 배우기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설계 핵심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대전부터 (사람이 적어도 돌아가게)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빠른 대전 매칭 + 레이팅(실력 점수)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판정은 서버가 (조작 방지)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부정행위(AI 따라 두기)·탈주 대응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배포는 진행 중인 판이 끝난 뒤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게임법 3가지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828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등급분류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앱 마켓은 자체 등급, 내 사이트는 직접 확인</a:t>
            </a:r>
            <a:endParaRPr lang="en-US" sz="1500" dirty="0"/>
          </a:p>
        </p:txBody>
      </p:sp>
      <p:sp>
        <p:nvSpPr>
          <p:cNvPr id="10" name="badge2"/>
          <p:cNvSpPr/>
          <p:nvPr/>
        </p:nvSpPr>
        <p:spPr>
          <a:xfrm>
            <a:off x="4800600" y="265176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6060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환전 금지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이기면 돈을 받는 구조 = 도박</a:t>
            </a:r>
            <a:endParaRPr lang="en-US" sz="1500" dirty="0"/>
          </a:p>
        </p:txBody>
      </p:sp>
      <p:sp>
        <p:nvSpPr>
          <p:cNvPr id="13" name="badge3"/>
          <p:cNvSpPr/>
          <p:nvPr/>
        </p:nvSpPr>
        <p:spPr>
          <a:xfrm>
            <a:off x="4800600" y="34747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4290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확률 공개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유료 뽑기는 확률을 %로 공개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 아이템 비교와 키우는 순서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  <a:gridCol w="822960"/>
                <a:gridCol w="822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아이템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개발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운영 부담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위험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정보 블로그 · 뉴스레터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거의 없음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도구(계산기) 사이트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보통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대전 게임(오목)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SaaS · 중개 플랫폼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852160" y="1143000"/>
            <a:ext cx="2834640" cy="324612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035040" y="1280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한 주제로 키우기</a:t>
            </a:r>
            <a:endParaRPr lang="en-US" sz="1500" dirty="0"/>
          </a:p>
        </p:txBody>
      </p:sp>
      <p:sp>
        <p:nvSpPr>
          <p:cNvPr id="6" name="badge1"/>
          <p:cNvSpPr/>
          <p:nvPr/>
        </p:nvSpPr>
        <p:spPr>
          <a:xfrm>
            <a:off x="6035040" y="17830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0350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783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정보·도구</a:t>
            </a:r>
            <a:endParaRPr lang="en-US" sz="1500" dirty="0"/>
          </a:p>
        </p:txBody>
      </p:sp>
      <p:sp>
        <p:nvSpPr>
          <p:cNvPr id="9" name="badge2"/>
          <p:cNvSpPr/>
          <p:nvPr/>
        </p:nvSpPr>
        <p:spPr>
          <a:xfrm>
            <a:off x="6035040" y="26060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350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606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커뮤니티</a:t>
            </a:r>
            <a:endParaRPr lang="en-US" sz="1500" dirty="0"/>
          </a:p>
        </p:txBody>
      </p:sp>
      <p:sp>
        <p:nvSpPr>
          <p:cNvPr id="12" name="badge3"/>
          <p:cNvSpPr/>
          <p:nvPr/>
        </p:nvSpPr>
        <p:spPr>
          <a:xfrm>
            <a:off x="603504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0350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34290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게임·상품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앞 단계의 방문자가 다음 단계의 첫 손님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더 넓은 분류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분류 지도 · 셀러 · 크리에이터 · 앱 · 지식·외주 · 중개 플랫폼 · AI · 규제 업종 — 22–29장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사업을 나누는 6가지 기준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누구에게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B2C · B2B · C2C · B2G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무엇을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실물 · 디지털 · 서비스 · 소프트웨어 · 콘텐츠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어떻게 버나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판매 · 구독 · 수수료 · 광고 · 후원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누가 만드나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운영자 · 회원 · 판매자 · AI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324612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788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어디서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내 사이트 / 남의 플랫폼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6035040" y="2606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7889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788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규제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신고만 / 등록·허가 / 금지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새 아이디어는 6칸을 채워 보며 위험을 찾는다 (22장)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오픈마켓 셀러와 크리에이터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sc0"/>
          <p:cNvSpPr/>
          <p:nvPr/>
        </p:nvSpPr>
        <p:spPr>
          <a:xfrm>
            <a:off x="45720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오픈마켓 셀러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23장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손님은 이미 있음, 대신 수수료·경쟁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사입 · 위탁판매 · 구매대행 · 내 브랜드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마켓 안 검색 최적화 + 수수료 뺀 마진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배송 기한·CS 점수 관리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sc1"/>
          <p:cNvSpPr/>
          <p:nvPr/>
        </p:nvSpPr>
        <p:spPr>
          <a:xfrm>
            <a:off x="4663440" y="1188720"/>
            <a:ext cx="402336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크리에이터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24장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0116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콘텐츠 = 제품, 업로드 = 배포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광고 배분 + 후원·멤버십 + 협찬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협찬은 반드시 광고 표시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원본 백업 · 2단계 인증 · 팬을 내 채널로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앱은 웹보다 업데이트가 어렵다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심사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올려도 마켓 심사를 통과해야 나감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되돌리기 불가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이미 깔린 버전은 되돌릴 수 없음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533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53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옛 버전 공존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업데이트 안 한 사람이 계속 남음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880360"/>
            <a:ext cx="82296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그래서 쓰는 장치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단계적 출시 · 베타 테스트 · 기능 플래그 · 서버에서 설정 바꾸기 · 강제 업데이트 · 크래시 리포트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디지털 상품 결제엔 앱 마켓 수수료 15–30% (조건에 따라)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지식·외주 판매와 중개 플랫폼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지식·외주 (26장)</a:t>
            </a:r>
            <a:endParaRPr lang="en-US" sz="1600" dirty="0"/>
          </a:p>
        </p:txBody>
      </p:sp>
      <p:sp>
        <p:nvSpPr>
          <p:cNvPr id="4" name="badge1"/>
          <p:cNvSpPr/>
          <p:nvPr/>
        </p:nvSpPr>
        <p:spPr>
          <a:xfrm>
            <a:off x="457200" y="16916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6459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디지털 상품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한 번 만들어 계속 판매</a:t>
            </a:r>
            <a:endParaRPr lang="en-US" sz="1500" dirty="0"/>
          </a:p>
        </p:txBody>
      </p:sp>
      <p:sp>
        <p:nvSpPr>
          <p:cNvPr id="7" name="badge2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5146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강의·코칭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만들기 전 사전 신청으로 수요 확인</a:t>
            </a:r>
            <a:endParaRPr lang="en-US" sz="1500" dirty="0"/>
          </a:p>
        </p:txBody>
      </p:sp>
      <p:sp>
        <p:nvSpPr>
          <p:cNvPr id="10" name="badge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383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외주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계약서: 범위·수정 횟수·저작권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중개 플랫폼 (27장)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17830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한쪽 먼저, 좁은 지역·분야부터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신뢰 장치: 본인 확인·리뷰·안전결제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탈중개(직거래) 막을 혜택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구인구직·결혼중개·숙박·의료는 업종별 신고·등록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AI 서비스: 쓸 때마다 원가가 나간다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운영 체크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606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사용량 제한·과금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틀린 답(환각) 안내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모델 바뀌면 테스트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입력 정보 외부 전송 고지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생성물 표시 (AI 기본법)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시작 전에 확인할 규제 업종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4" name="reg0"/>
          <p:cNvSpPr/>
          <p:nvPr/>
        </p:nvSpPr>
        <p:spPr>
          <a:xfrm>
            <a:off x="640080" y="1344168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188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신고 정도면 시작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1887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일반 쇼핑몰 · 정보 사이트 · 템플릿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57200" y="1993392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8" name="reg1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199339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추가 신고·등록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99339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건강기능식품 · 직업소개 · 위치정보 · 게임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457200" y="2798064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2" name="reg2"/>
          <p:cNvSpPr/>
          <p:nvPr/>
        </p:nvSpPr>
        <p:spPr>
          <a:xfrm>
            <a:off x="640080" y="2953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88720" y="279806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허가·라이선스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98064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결제·송금 · 투자자문 · 가상자산 · 의료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457200" y="3602736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6" name="reg3"/>
          <p:cNvSpPr/>
          <p:nvPr/>
        </p:nvSpPr>
        <p:spPr>
          <a:xfrm>
            <a:off x="640080" y="3758184"/>
            <a:ext cx="365760" cy="365760"/>
          </a:xfrm>
          <a:prstGeom prst="ellipse">
            <a:avLst/>
          </a:prstGeom>
          <a:solidFill>
            <a:srgbClr val="1B2B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88720" y="360273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온라인 판매 금지·제한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60273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의약품 · 담배 · 주류(일부 예외) · 도수 렌즈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애매하면 정부24에서 업종 인허가 검색, 관계 기관·전문가에게 확인 (29장)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문의·광고 받기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문의 창구 · 도메인 이메일 · 스팸함 피하기 · 광고 메일 규칙 · 광고·제휴 문의 — 30–31장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시작은 도메인 이메일 1개 + 문의 폼 1개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문의 창구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이메일 — 모든 사업의 기본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문의 폼 — 필요한 정보만, 스팸 막기 쉬움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1:1 게시판 · 카카오톡 채널 · 채팅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앱 안 문의 · 마켓 문의 기능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창구가 많을수록 놓치는 문의도 늘어남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용도별 주소 (한 메일함으로 모으기)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800600" y="1783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help@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7830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일반 문의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ads@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광고·제휴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7889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privacy@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개인정보 요청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291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report@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291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불법 게시물 신고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3794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billing@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94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결제·환불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스팸함에 안 빠지게: SPF · DKIM · DMARC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MX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우편함 위치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어느 서버가 메일을 받나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256032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SPF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보내는 우체국 명단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내 이름으로 보내도 되는 서버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466344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DKIM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봉투의 도장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중간에 안 바뀌었다는 서명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6766560" y="118872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DMARC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18745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처리 지침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검사 실패 메일을 어떻게 할지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3375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설정 팁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값은 내 메일 서비스가 알려 주는 그대로 · SPF는 도메인당 하나(합치기) · DMARC는 p=none으로 시작해 단계적으로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대량 발송 규칙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하루 약 5,000통 이상이면 세 가지 모두 + 원클릭 수신거부 + 스팸 신고율 0.3% 미만 (Gmail·Yahoo)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광고 메일·문자를 보낼 때 5가지 규칙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2344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143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사전 동의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1430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약관에 섞지 말고 선택 항목으로 따로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57200" y="1801368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8013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(광고) 표시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8013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제목·문자 맨 앞에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2459736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594360" y="255117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4597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쉬운 수신거부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4597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로그인 요구 등 방해 금지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3118104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594360" y="320954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11810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야간 별도 동의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1181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흔히 21시~다음 날 8시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457200" y="3776472"/>
            <a:ext cx="822960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594360" y="386791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7764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2년마다 확인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37764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계속 받을지 다시 묻기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주문 안내 같은 거래 메일에 광고를 섞지 않기 — 정보통신망법 제50조 (30장)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광고·제휴 문의 받기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준비물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2651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광고 문의 페이지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ads@ 전용 주소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미디어킷: 방문자 숫자 · 독자 특징 · 상품 · 가격 · 원칙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88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진행 순서</a:t>
            </a:r>
            <a:endParaRPr lang="en-US" sz="1600" dirty="0"/>
          </a:p>
        </p:txBody>
      </p:sp>
      <p:sp>
        <p:nvSpPr>
          <p:cNvPr id="6" name="badge1"/>
          <p:cNvSpPr/>
          <p:nvPr/>
        </p:nvSpPr>
        <p:spPr>
          <a:xfrm>
            <a:off x="3291840" y="1645920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91840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16276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광고주 확인</a:t>
            </a:r>
            <a:endParaRPr lang="en-US" sz="1300" dirty="0"/>
          </a:p>
        </p:txBody>
      </p:sp>
      <p:sp>
        <p:nvSpPr>
          <p:cNvPr id="9" name="badge2"/>
          <p:cNvSpPr/>
          <p:nvPr/>
        </p:nvSpPr>
        <p:spPr>
          <a:xfrm>
            <a:off x="3291840" y="2075688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91840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견적 · 계약</a:t>
            </a:r>
            <a:endParaRPr lang="en-US" sz="1300" dirty="0"/>
          </a:p>
        </p:txBody>
      </p:sp>
      <p:sp>
        <p:nvSpPr>
          <p:cNvPr id="12" name="badge3"/>
          <p:cNvSpPr/>
          <p:nvPr/>
        </p:nvSpPr>
        <p:spPr>
          <a:xfrm>
            <a:off x="3291840" y="2505456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91840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87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선불 결제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3291840" y="2935224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91840" y="2935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2916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소재 검수</a:t>
            </a:r>
            <a:endParaRPr lang="en-US" sz="1300" dirty="0"/>
          </a:p>
        </p:txBody>
      </p:sp>
      <p:sp>
        <p:nvSpPr>
          <p:cNvPr id="18" name="badge5"/>
          <p:cNvSpPr/>
          <p:nvPr/>
        </p:nvSpPr>
        <p:spPr>
          <a:xfrm>
            <a:off x="3291840" y="3364992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918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703320" y="3346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 표시 게재</a:t>
            </a:r>
            <a:endParaRPr lang="en-US" sz="1300" dirty="0"/>
          </a:p>
        </p:txBody>
      </p:sp>
      <p:sp>
        <p:nvSpPr>
          <p:cNvPr id="21" name="badge6"/>
          <p:cNvSpPr/>
          <p:nvPr/>
        </p:nvSpPr>
        <p:spPr>
          <a:xfrm>
            <a:off x="3291840" y="3794760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9184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703320" y="3776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결과 보고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5852160" y="1188720"/>
            <a:ext cx="2834640" cy="320040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350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거절할 광고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1783080"/>
            <a:ext cx="2560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불법 도박 · 토토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성인물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수익 보장 투자 · 코인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의약품 효능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광고 표시 없이 해 달라는 요청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백링크 판매 · 수상한 첨부 파일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마케팅 실전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인스타그램 시작하기 · 광고 예산 · 네이버·당근 · 실제 사례 10가지 · 90일 계획 — 32–33장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인스타그램 첫날: 프로필부터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435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프로페셔널 계정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통계·광고·연락처 버튼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57200" y="196596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8" name="badge2"/>
          <p:cNvSpPr/>
          <p:nvPr/>
        </p:nvSpPr>
        <p:spPr>
          <a:xfrm>
            <a:off x="594360" y="21031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02082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소개 글 3줄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누구를 위한 / 무엇을 / 지금 할 행동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57200" y="274320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2" name="badge3"/>
          <p:cNvSpPr/>
          <p:nvPr/>
        </p:nvSpPr>
        <p:spPr>
          <a:xfrm>
            <a:off x="594360" y="288036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79806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링크 + UTM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인스타에서 온 손님을 따로 세기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57200" y="352044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6" name="badge4"/>
          <p:cNvSpPr/>
          <p:nvPr/>
        </p:nvSpPr>
        <p:spPr>
          <a:xfrm>
            <a:off x="594360" y="3657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753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하이라이트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후기 · FAQ · 이벤트 · 배송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66344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콘텐츠 3종류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18288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절반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도움 되는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저장·공유로 새 사람에게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57860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1/3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25786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믿음 주는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과정·후기·대표 이야기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32841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조금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3284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사게 하는 것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신제품·할인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판매 글만 있는 계정은 팔로우할 이유가 없다 (32장)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인스타그램이 보는 3가지 신호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시청 시간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끝까지 보나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인사이트: 평균 시청 시간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좋아요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팔로워에게 퍼지는 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인사이트: 도달 대비 좋아요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1828800"/>
          </a:xfrm>
          <a:prstGeom prst="roundRect">
            <a:avLst>
              <a:gd name="adj" fmla="val 4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보내기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모르는 사람에게 퍼지는 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인사이트: 도달 대비 보내기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영상 팁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첫 1~2초에 결론 · 자막 필수 · 한 영상 한 메시지 · "친구에게 보내 주세요"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해시태그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2025년 12월부터 5개 제한 보도 → 캡션 첫 줄과 영상 속 단어가 더 중요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기준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인스타그램 책임자 애덤 모세리, 2025년 1월 발표 (보도 기준)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메타 광고 첫 예산 계산법 (업계 경험칙)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754880" cy="1463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하루 예산 ≈ 목표 전환 1건 비용 × 50 ÷ 7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예) 구매 1건 1만 원 목표 → 하루 약 7만 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346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약 7일에 최적화 이벤트 50회 = 학습 끝이라는 업계 안내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부담되면 목표를 앞 단계(장바구니·상세 보기)로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반응 좋았던 릴스를 광고 소재로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첫 1주는 자주 건드리지 않기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5486400" y="1188720"/>
            <a:ext cx="32004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광고 구조</a:t>
            </a:r>
            <a:endParaRPr lang="en-US" sz="1600" dirty="0"/>
          </a:p>
        </p:txBody>
      </p:sp>
      <p:sp>
        <p:nvSpPr>
          <p:cNvPr id="9" name="adlvl0"/>
          <p:cNvSpPr/>
          <p:nvPr/>
        </p:nvSpPr>
        <p:spPr>
          <a:xfrm>
            <a:off x="5669280" y="1828800"/>
            <a:ext cx="2743200" cy="640080"/>
          </a:xfrm>
          <a:prstGeom prst="roundRect">
            <a:avLst>
              <a:gd name="adj" fmla="val 8571"/>
            </a:avLst>
          </a:prstGeom>
          <a:solidFill>
            <a:srgbClr val="1F4E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0644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캠페인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목표</a:t>
            </a:r>
            <a:endParaRPr lang="en-US" sz="1400" dirty="0"/>
          </a:p>
        </p:txBody>
      </p:sp>
      <p:sp>
        <p:nvSpPr>
          <p:cNvPr id="11" name="adlvl1"/>
          <p:cNvSpPr/>
          <p:nvPr/>
        </p:nvSpPr>
        <p:spPr>
          <a:xfrm>
            <a:off x="5852160" y="2606040"/>
            <a:ext cx="2560320" cy="640080"/>
          </a:xfrm>
          <a:prstGeom prst="roundRect">
            <a:avLst>
              <a:gd name="adj" fmla="val 8571"/>
            </a:avLst>
          </a:prstGeom>
          <a:solidFill>
            <a:srgbClr val="2E9C8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8932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광고 세트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누구에게 · 얼마 · 언제</a:t>
            </a:r>
            <a:endParaRPr lang="en-US" sz="1400" dirty="0"/>
          </a:p>
        </p:txBody>
      </p:sp>
      <p:sp>
        <p:nvSpPr>
          <p:cNvPr id="13" name="adlvl2"/>
          <p:cNvSpPr/>
          <p:nvPr/>
        </p:nvSpPr>
        <p:spPr>
          <a:xfrm>
            <a:off x="6035040" y="338328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08A3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7220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광고 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영상 · 이미지 · 문구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 동네 장사: 네이버 · 당근 · 카카오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네이버 스마트플레이스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정보·사진·메뉴 최신으로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진짜 손님 리뷰를 꾸준히 + 사장님 답글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리뷰·저장 구매(어뷰징) 금지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블로그 · 체험단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작은 세부 키워드부터 공략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"제품을 제공받아 작성"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키워드 전략은 내가 정하기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당근 · 카카오 채널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7452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당근 비즈프로필: 동네 소식·쿠폰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카카오 채널: 재방문 쿠폰·예약 안내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광고 메시지는 수신 동의 규칙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실제 사례: 처음에 무엇을 했나</a:t>
            </a:r>
            <a:endParaRPr lang="en-US" sz="2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2651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처음에 한 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배울 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배달의민족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길거리 전단지를 주워 가게 정보 입력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처음엔 손으로 직접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당근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판교 회사 사내 장터 → 동네 인증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좁게 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무신사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스니커즈 마니아 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팬이 먼저, 상품은 나중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오늘의집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온라인 집들이 사진 + 구매 버튼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즐겨 보는 콘텐츠에 구매 연결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모닝 브루 · 드롭박스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공유 칸 / 친구 초대하면 용량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공유가 제품 안에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워들 · 어몽어스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이모지 공유 카드 / 스트리머 방송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사람 있는 곳으로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듀오링고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부엉이 마스코트를 캐릭터로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브랜드에 성격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성공 사례만 기사가 된다(생존자 편향) — 방법보다 원리를 가져오기 (33장)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90일 실행 계획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1~4주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씨앗 뿌리기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도움 되는 콘텐츠 주 3~5개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첫 손님 30명에게 직접 연락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후기·질문 전부 모으기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5~8주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반응 찾기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상위 콘텐츠 3개 찾기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같은 주제 변형 5개 더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소액 광고 테스트 · 공유 장치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92608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9~12주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737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키우기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317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되는 채널에 집중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작은 크리에이터와 협업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이메일·카카오로 단골 만들기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매주 금요일 30분: 도달 · 링크 클릭 · 가입·구매 · 광고비 · 다음 주 실험 1개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도메인: 주소와 업계 지식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도메인 이름(사이트 주소) 고르기·연결·지키기 · 업계 지식(도메인 지식) 분야별 흐름 — 34–35장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도메인 주소 읽기와 고르기</a:t>
            </a:r>
            <a:endParaRPr lang="en-US" sz="2800" dirty="0"/>
          </a:p>
        </p:txBody>
      </p:sp>
      <p:sp>
        <p:nvSpPr>
          <p:cNvPr id="3" name="urlbar"/>
          <p:cNvSpPr/>
          <p:nvPr/>
        </p:nvSpPr>
        <p:spPr>
          <a:xfrm>
            <a:off x="457200" y="118872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</a:t>
            </a:r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granolalab</a:t>
            </a:r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.co.kr</a:t>
            </a:r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/products</a:t>
            </a:r>
            <a:endParaRPr lang="en-US" sz="2400" dirty="0"/>
          </a:p>
        </p:txBody>
      </p:sp>
      <p:sp>
        <p:nvSpPr>
          <p:cNvPr id="5" name="card"/>
          <p:cNvSpPr/>
          <p:nvPr/>
        </p:nvSpPr>
        <p:spPr>
          <a:xfrm>
            <a:off x="457200" y="2240280"/>
            <a:ext cx="2606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86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서브도메인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shop — 마음대로 추가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3246120" y="2240280"/>
            <a:ext cx="2606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2286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도메인 이름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granolalab — 내가 빌린 이름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035040" y="2240280"/>
            <a:ext cx="2606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2286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TLD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.co.kr — 종류·나라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832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한국 손님 위주 → .kr / .co.kr, 해외도 → .com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짧고 말로 불러도 헷갈리지 않게 (하이픈·숫자 피하기)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첫해 할인보다 갱신 가격 확인 · 상표 검색 · 방어 등록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도메인은 빌리는 것: 연결하고 지키기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사자마자 할 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내 명의 · 공용 이메일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자동 갱신 ON + 카드 만료일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등록 업체 2단계 인증 · 도메인 잠금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DNS: A · CNAME(사이트), MX · TXT(메일)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바꾸기 전 DNS 설정 캡처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만료되면 (gTLD 기준, 대략)</a:t>
            </a:r>
            <a:endParaRPr lang="en-US" sz="1500" dirty="0"/>
          </a:p>
        </p:txBody>
      </p:sp>
      <p:sp>
        <p:nvSpPr>
          <p:cNvPr id="7" name="exp0"/>
          <p:cNvSpPr/>
          <p:nvPr/>
        </p:nvSpPr>
        <p:spPr>
          <a:xfrm>
            <a:off x="4800600" y="1892808"/>
            <a:ext cx="274320" cy="27432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212080" y="1783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갱신 유예 ~45일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원래 가격 갱신 가능한 경우 많음</a:t>
            </a:r>
            <a:endParaRPr lang="en-US" sz="1300" dirty="0"/>
          </a:p>
        </p:txBody>
      </p:sp>
      <p:sp>
        <p:nvSpPr>
          <p:cNvPr id="9" name="exp1"/>
          <p:cNvSpPr/>
          <p:nvPr/>
        </p:nvSpPr>
        <p:spPr>
          <a:xfrm>
            <a:off x="4800600" y="2514600"/>
            <a:ext cx="274320" cy="27432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212080" y="24048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복구 유예 ~30일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사이트·메일 멈춤, 비싼 복구비</a:t>
            </a:r>
            <a:endParaRPr lang="en-US" sz="1300" dirty="0"/>
          </a:p>
        </p:txBody>
      </p:sp>
      <p:sp>
        <p:nvSpPr>
          <p:cNvPr id="11" name="exp2"/>
          <p:cNvSpPr/>
          <p:nvPr/>
        </p:nvSpPr>
        <p:spPr>
          <a:xfrm>
            <a:off x="4800600" y="3136392"/>
            <a:ext cx="274320" cy="2743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12080" y="30266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삭제 대기 ~5일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되살릴 수 없음</a:t>
            </a:r>
            <a:endParaRPr lang="en-US" sz="1300" dirty="0"/>
          </a:p>
        </p:txBody>
      </p:sp>
      <p:sp>
        <p:nvSpPr>
          <p:cNvPr id="13" name="exp3"/>
          <p:cNvSpPr/>
          <p:nvPr/>
        </p:nvSpPr>
        <p:spPr>
          <a:xfrm>
            <a:off x="4800600" y="3758184"/>
            <a:ext cx="274320" cy="274320"/>
          </a:xfrm>
          <a:prstGeom prst="ellipse">
            <a:avLst/>
          </a:prstGeom>
          <a:solidFill>
            <a:srgbClr val="1B2B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364845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공개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누구나 등록 가능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업계 지식(도메인 지식)이란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그 분야의 업무 흐름과 단어 — 코딩 실력이 같아도 이걸 아는 사람이 실수 없는 서비스를 만든다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457200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6" name="badge1"/>
          <p:cNvSpPr/>
          <p:nvPr/>
        </p:nvSpPr>
        <p:spPr>
          <a:xfrm>
            <a:off x="594360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용어집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내 말로 단어 정리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2130552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267712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67712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67712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흐름 그리기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돈·물건·정보의 이동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3803904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941064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41064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41064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상태 그리기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주문이 거치는 모든 상태</a:t>
            </a:r>
            <a:endParaRPr lang="en-US" sz="1300" dirty="0"/>
          </a:p>
        </p:txBody>
      </p:sp>
      <p:sp>
        <p:nvSpPr>
          <p:cNvPr id="17" name="card"/>
          <p:cNvSpPr/>
          <p:nvPr/>
        </p:nvSpPr>
        <p:spPr>
          <a:xfrm>
            <a:off x="5477256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8" name="badge4"/>
          <p:cNvSpPr/>
          <p:nvPr/>
        </p:nvSpPr>
        <p:spPr>
          <a:xfrm>
            <a:off x="5614416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14416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614416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예외 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중간 취소? 부분 환불?</a:t>
            </a:r>
            <a:endParaRPr lang="en-US" sz="1300" dirty="0"/>
          </a:p>
        </p:txBody>
      </p:sp>
      <p:sp>
        <p:nvSpPr>
          <p:cNvPr id="21" name="card"/>
          <p:cNvSpPr/>
          <p:nvPr/>
        </p:nvSpPr>
        <p:spPr>
          <a:xfrm>
            <a:off x="7150608" y="2240280"/>
            <a:ext cx="15544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22" name="badge5"/>
          <p:cNvSpPr/>
          <p:nvPr/>
        </p:nvSpPr>
        <p:spPr>
          <a:xfrm>
            <a:off x="7287768" y="2377440"/>
            <a:ext cx="347472" cy="3474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87768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7768" y="278892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현장에 묻기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CS·정산 담당의 고민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개발에선 DDD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공통 언어(현업과 같은 단어를 코드에) · 영역 나누기(같은 '주문'도 판매팀·물류팀에서 뜻이 다름)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핵심 흐름 ①: 주문과 결제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쇼핑몰 주문 상태</a:t>
            </a:r>
            <a:endParaRPr lang="en-US" sz="1500" dirty="0"/>
          </a:p>
        </p:txBody>
      </p:sp>
      <p:sp>
        <p:nvSpPr>
          <p:cNvPr id="4" name="ord0"/>
          <p:cNvSpPr/>
          <p:nvPr/>
        </p:nvSpPr>
        <p:spPr>
          <a:xfrm>
            <a:off x="457200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결제 완료</a:t>
            </a:r>
            <a:endParaRPr lang="en-US" sz="1300" dirty="0"/>
          </a:p>
        </p:txBody>
      </p:sp>
      <p:sp>
        <p:nvSpPr>
          <p:cNvPr id="6" name="ord1"/>
          <p:cNvSpPr/>
          <p:nvPr/>
        </p:nvSpPr>
        <p:spPr>
          <a:xfrm>
            <a:off x="1847088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47088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상품 준비</a:t>
            </a:r>
            <a:endParaRPr lang="en-US" sz="1300" dirty="0"/>
          </a:p>
        </p:txBody>
      </p:sp>
      <p:sp>
        <p:nvSpPr>
          <p:cNvPr id="8" name="ord2"/>
          <p:cNvSpPr/>
          <p:nvPr/>
        </p:nvSpPr>
        <p:spPr>
          <a:xfrm>
            <a:off x="3236976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36976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출고</a:t>
            </a:r>
            <a:endParaRPr lang="en-US" sz="1300" dirty="0"/>
          </a:p>
        </p:txBody>
      </p:sp>
      <p:sp>
        <p:nvSpPr>
          <p:cNvPr id="10" name="ord3"/>
          <p:cNvSpPr/>
          <p:nvPr/>
        </p:nvSpPr>
        <p:spPr>
          <a:xfrm>
            <a:off x="4626864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6864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배송 중</a:t>
            </a:r>
            <a:endParaRPr lang="en-US" sz="1300" dirty="0"/>
          </a:p>
        </p:txBody>
      </p:sp>
      <p:sp>
        <p:nvSpPr>
          <p:cNvPr id="12" name="ord4"/>
          <p:cNvSpPr/>
          <p:nvPr/>
        </p:nvSpPr>
        <p:spPr>
          <a:xfrm>
            <a:off x="6016752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1F4E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16752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배송 완료</a:t>
            </a:r>
            <a:endParaRPr lang="en-US" sz="1300" dirty="0"/>
          </a:p>
        </p:txBody>
      </p:sp>
      <p:sp>
        <p:nvSpPr>
          <p:cNvPr id="14" name="ord5"/>
          <p:cNvSpPr/>
          <p:nvPr/>
        </p:nvSpPr>
        <p:spPr>
          <a:xfrm>
            <a:off x="7406640" y="1645920"/>
            <a:ext cx="1261872" cy="548640"/>
          </a:xfrm>
          <a:prstGeom prst="roundRect">
            <a:avLst>
              <a:gd name="adj" fmla="val 13333"/>
            </a:avLst>
          </a:prstGeom>
          <a:solidFill>
            <a:srgbClr val="F08A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06640" y="16459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구매 확정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예외 규칙 미리: 출고 전 취소 → 즉시 환불 · 출고 후 → 반품 전환 · 부분 반품 시 쿠폰·배송비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카드 결제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457200" y="3200400"/>
            <a:ext cx="26060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승인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결제 가능 확인 (돈은 아직)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3246120" y="3200400"/>
            <a:ext cx="26060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900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매입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청구 확정</a:t>
            </a:r>
            <a:endParaRPr lang="en-US" sz="1600" dirty="0"/>
          </a:p>
        </p:txBody>
      </p:sp>
      <p:sp>
        <p:nvSpPr>
          <p:cNvPr id="22" name="card"/>
          <p:cNvSpPr/>
          <p:nvPr/>
        </p:nvSpPr>
        <p:spPr>
          <a:xfrm>
            <a:off x="6035040" y="3200400"/>
            <a:ext cx="260604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0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수수료 빼고 D+N일 입금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결제 핵심 설계: 멱등성(두 번 눌러도 한 번만) · 매일 PG 내역과 주문 대사 (35장)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핵심 흐름 ②: 분야별 꼭 알 단어</a:t>
            </a:r>
            <a:endParaRPr lang="en-US" sz="2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분야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꼭 알 흐름·단어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물류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입고 → 피킹 → 패킹 → 출고 → 배송 · 송장 · 합포장 · 3PL vs 풀필먼트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광고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광고주 DSP ↔ 익스체인지(RTB 경매) ↔ SSP 퍼블리셔 · 어트리뷰션 · 퍼스트파티 데이터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게임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BM(F2P·패스·가챠) · 라이브 옵스 · ARPPU · 리텐션 · 치팅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구독·SaaS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트라이얼 → 유료 전환 · 프로레이션 · 더닝(결제 실패 재시도) · 멀티 테넌시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예약·O2O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슬롯 = 재고(지나면 소멸) · 노쇼 · 예약금 · 동시 예약 충돌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금융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KYC · AML · 원장(덮어쓰지 않기) · 대사 · 이상 거래 탐지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새 분야는 7칸 표(누가·돈 흐름·상태·예외·지표·규제·용어 20개)를 채우며 공부 (35장)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출시 준비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서버·호스팅 고르기 · 꼭 해야 하는 보안 · 출시 전 Claude에게 요청할 30가지 — 36–38장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서버·호스팅: 사이트 종류로 고른다</a:t>
            </a:r>
            <a:endParaRPr lang="en-US" sz="2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2926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사이트 종류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추천 출발점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내가 할 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쇼핑몰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국내 쇼핑몰 빌더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거의 없음 (업체가 대부분 처리)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소개·랜딩·계산기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정적 호스팅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Git에 올리면 자동 배포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블로그·정보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블로그 서비스 · 워드프레스 호스팅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플러그인 업데이트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회원제·AI 서비스 MVP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PaaS + 관리형 DB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코드만, 서버 관리는 플랫폼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실시간 게임·큰 서비스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VPS · 대형 클라우드 (서울 리전)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보안·백업·비용 전부 직접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703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무료 요금제 함정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상업 사용 금지 · 잠자는 서버 · 한도 초과 정지 · 유료는 요금 폭탄 → 예산 알림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개인정보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해외 서버에 회원 정보 → 처리방침에 국외 이전 고지가 필요할 수 있음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꼭 해야 하는 보안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OWASP Top 10 (2025) 상위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83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접근 권한 실패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남의 주문이 주소만 바꿔 보임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04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4048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보안 설정 오류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기본 비번·디버그 모드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02666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02666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공급망 실패 (신규)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오염·오래된 라이브러리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6484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64845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예외 처리 실패 (신규)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오류 화면에 내부 정보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누구나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16002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모든 관리자 계정 2단계 인증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공유 계정 금지 · 필요한 권한만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HTTPS · 업데이트 · 백업 · 도메인 잠금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직접 개발이면 추가로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31546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매 요청 주인 확인 · 금액은 서버에서 계산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해시 · 자리표시자 · 보안 헤더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비밀 키는 환경 변수 · 로그와 알림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개인정보 접속기록은 원칙 1년 이상(조건에 따라 2년) 보관 · 유출 의심 시 확산 차단 → 증거 보존 → 신고 (37장)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출시 전 Claude에게 요청할 30가지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21792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첫인상·전환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첫 화면 CTA 1개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모바일 고정 버튼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신뢰 요소 · FAQ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문의 답변 시간 표시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24912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검색 노출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724912" y="178308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페이지마다 다른 제목·설명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h1 · alt · 내부 링크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robots.txt · 사이트맵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구조화된 데이터 · 404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28032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공유·측정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178308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OG 태그 썸네일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파비콘 · 공유 버튼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GA4 핵심 이벤트 · UTM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서치 콘솔 · 서치어드바이저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28346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31152" y="1325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법·품질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31152" y="178308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처리방침 · 사업자 푸터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동의 분리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코어 웹 바이탈 · 접근성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보안 · 스팸 방지 · 모니터링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38장 요청문을 복사해 보내고, PageSpeed · 리치 결과 테스트 · 서치 콘솔 · 카카오 디버거로 확인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출시 직전 자주 하는 실수 4가지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594360" y="130759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1430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robots.txt로 숨기기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14300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숨기기 도구가 아님 → noindex 또는 비밀번호. 운영 사이트 전체 Disallow 실수 확인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457200" y="196596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594360" y="213055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130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가짜 404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196596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화면만 404, 상태 코드는 200 (소프트 404) → 실제 404 코드로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457200" y="278892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594360" y="295351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7889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카톡 썸네일이 안 바뀜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278892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카카오 캐시 → 공유 디버거 초기화, 이미지 주소에 ?v=2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361188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594360" y="377647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61188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화면과 다른 구조화된 데이터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61188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가짜 별점·없는 정보 표시는 스팸 정책 위반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코어 웹 바이탈 좋음 기준: LCP ≤ 2.5초 · INP ≤ 200ms · CLS ≤ 0.1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안전하게, 자주 반복하기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기획 → 백업 → 연습용 사이트에서 수정 → 확인 → 배포 → 감시 → 숫자 보기 → 다시 기획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다음 할 일: docs/13-practice-scenario.md 를 읽고 15장 퀴즈 풀기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efront">
  <a:themeElements>
    <a:clrScheme name="Storefront">
      <a:dk1>
        <a:srgbClr val="1B2B2E"/>
      </a:dk1>
      <a:lt1>
        <a:srgbClr val="FFFFFF"/>
      </a:lt1>
      <a:dk2>
        <a:srgbClr val="1F4E4A"/>
      </a:dk2>
      <a:lt2>
        <a:srgbClr val="EEF4F3"/>
      </a:lt2>
      <a:accent1>
        <a:srgbClr val="1F4E4A"/>
      </a:accent1>
      <a:accent2>
        <a:srgbClr val="F08A3E"/>
      </a:accent2>
      <a:accent3>
        <a:srgbClr val="2E9C8F"/>
      </a:accent3>
      <a:accent4>
        <a:srgbClr val="7A8C8E"/>
      </a:accent4>
      <a:accent5>
        <a:srgbClr val="D9534F"/>
      </a:accent5>
      <a:accent6>
        <a:srgbClr val="F4C95D"/>
      </a:accent6>
      <a:hlink>
        <a:srgbClr val="2E9C8F"/>
      </a:hlink>
      <a:folHlink>
        <a:srgbClr val="7A8C8E"/>
      </a:folHlink>
    </a:clrScheme>
    <a:fontScheme name="Storefro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인터넷 사업 101</dc:title>
  <dc:subject>PptxGenJS Presentation</dc:subject>
  <dc:creator>PptxGenJS</dc:creator>
  <cp:lastModifiedBy>PptxGenJS</cp:lastModifiedBy>
  <cp:revision>1</cp:revision>
  <dcterms:created xsi:type="dcterms:W3CDTF">2026-10-31T14:23:02Z</dcterms:created>
  <dcterms:modified xsi:type="dcterms:W3CDTF">2026-10-31T14:23:02Z</dcterms:modified>
</cp:coreProperties>
</file>