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18abb55-2b60-5903-dabc-f92c232a3ef0}">
          <p14:sldIdLst>
            <p14:sldId id="256"/>
            <p14:sldId id="257"/>
          </p14:sldIdLst>
        </p14:section>
        <p14:section name="큰 그림" id="{b1918885-5800-00e5-b090-3093ad1b94d9}">
          <p14:sldIdLst>
            <p14:sldId id="258"/>
            <p14:sldId id="259"/>
            <p14:sldId id="260"/>
            <p14:sldId id="261"/>
            <p14:sldId id="262"/>
          </p14:sldIdLst>
        </p14:section>
        <p14:section name="만들기" id="{838c3b18-ad49-08a3-d5bc-ab5344cb1a1e}">
          <p14:sldIdLst>
            <p14:sldId id="263"/>
            <p14:sldId id="264"/>
          </p14:sldIdLst>
        </p14:section>
        <p14:section name="운영하기" id="{c0bcc65a-2691-dd52-5d6e-7c47c9412fb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키우기" id="{890df497-0bd3-61b4-8889-25dd9b6edc47}">
          <p14:sldIdLst>
            <p14:sldId id="275"/>
            <p14:sldId id="276"/>
          </p14:sldIdLst>
        </p14:section>
        <p14:section name="실전" id="{72f7af09-f111-c1ea-02b8-98601458f034}">
          <p14:sldIdLst>
            <p14:sldId id="277"/>
          </p14:sldIdLst>
        </p14:section>
        <p14:section name="여러 가지 사이트 사업" id="{b41d8c00-72d6-b21d-7f92-56a159d3a210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더 넓은 분류" id="{e8f1588e-68d9-f72e-d53d-d652945b55e1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1만 원짜리 간식 1개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금액(원)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판매가</c:v>
                  </c:pt>
                  <c:pt idx="1">
                    <c:v>재료·포장</c:v>
                  </c:pt>
                  <c:pt idx="2">
                    <c:v>택배비</c:v>
                  </c:pt>
                  <c:pt idx="3">
                    <c:v>결제 수수료</c:v>
                  </c:pt>
                  <c:pt idx="4">
                    <c:v>남는 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3500</c:v>
                </c:pt>
                <c:pt idx="2">
                  <c:v>3000</c:v>
                </c:pt>
                <c:pt idx="3">
                  <c:v>300</c:v>
                </c:pt>
                <c:pt idx="4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퍼널: 단계마다 손님이 줄어든다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명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방문</c:v>
                  </c:pt>
                  <c:pt idx="1">
                    <c:v>상품 보기</c:v>
                  </c:pt>
                  <c:pt idx="2">
                    <c:v>장바구니</c:v>
                  </c:pt>
                  <c:pt idx="3">
                    <c:v>결제 시작</c:v>
                  </c:pt>
                  <c:pt idx="4">
                    <c:v>결제 완료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4000</c:v>
                </c:pt>
                <c:pt idx="2">
                  <c:v>800</c:v>
                </c:pt>
                <c:pt idx="3">
                  <c:v>400</c:v>
                </c:pt>
                <c:pt idx="4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월 1만 원 구독 서비스 (예시)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원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구독료</c:v>
                  </c:pt>
                  <c:pt idx="1">
                    <c:v>적게 쓰는 손님 AI 비용</c:v>
                  </c:pt>
                  <c:pt idx="2">
                    <c:v>많이 쓰는 손님 AI 비용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3000</c:v>
                </c:pt>
                <c:pt idx="2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 폴더의 15장 글을 한 장씩 요약한 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인터넷 사업 101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사이트를 만들고, 고치고, 지키고, 키우는 법 — 입문부터 실전까지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덱의 흐름: 5단계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1005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큰 그림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사업 종류 · 수익 모델 · 용어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1–3장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2121408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670048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12848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기획 · 사이트 구조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4–5장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785616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accent2"/>
          </a:solidFill>
          <a:ln/>
        </p:spPr>
      </p:sp>
      <p:sp>
        <p:nvSpPr>
          <p:cNvPr id="16" name="badge3"/>
          <p:cNvSpPr/>
          <p:nvPr/>
        </p:nvSpPr>
        <p:spPr>
          <a:xfrm>
            <a:off x="4334256" y="15544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34256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운영하기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환경 · 배포 · 백업 · 장애 · 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6–10장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449824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5998464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984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41264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키우기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마케팅 · 데이터 · B2B/B2C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41264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11–12장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7114032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8" name="badge5"/>
          <p:cNvSpPr/>
          <p:nvPr/>
        </p:nvSpPr>
        <p:spPr>
          <a:xfrm>
            <a:off x="7662672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267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실전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시뮬레이션 · 체크리스트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13–15장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가운데 '운영하기'가 이 공부의 중심입니다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누가 누구에게 파는가: B · C · G</a:t>
            </a:r>
            <a:endParaRPr lang="en-US" sz="2800" dirty="0"/>
          </a:p>
        </p:txBody>
      </p:sp>
      <p:sp>
        <p:nvSpPr>
          <p:cNvPr id="3" name="letterB"/>
          <p:cNvSpPr/>
          <p:nvPr/>
        </p:nvSpPr>
        <p:spPr>
          <a:xfrm>
            <a:off x="457200" y="12344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기업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Business</a:t>
            </a:r>
            <a:endParaRPr lang="en-US" sz="1400" dirty="0"/>
          </a:p>
        </p:txBody>
      </p:sp>
      <p:sp>
        <p:nvSpPr>
          <p:cNvPr id="6" name="letterC"/>
          <p:cNvSpPr/>
          <p:nvPr/>
        </p:nvSpPr>
        <p:spPr>
          <a:xfrm>
            <a:off x="457200" y="2286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개인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Consumer</a:t>
            </a:r>
            <a:endParaRPr lang="en-US" sz="1400" dirty="0"/>
          </a:p>
        </p:txBody>
      </p:sp>
      <p:sp>
        <p:nvSpPr>
          <p:cNvPr id="9" name="letterG"/>
          <p:cNvSpPr/>
          <p:nvPr/>
        </p:nvSpPr>
        <p:spPr>
          <a:xfrm>
            <a:off x="457200" y="333756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29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정부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Government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338328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개인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쇼핑몰, 넷플릭스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08076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슬랙, 회계 프로그램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338328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044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C2C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개인 → 개인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당근마켓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08076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B2B2C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 → 개인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338328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044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D2C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제조사 → 개인 직접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브랜드 자사몰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08076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B2G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정부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공공 입찰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B2C는 '많이·싸게·빨리', B2B는 '적게·비싸게·꼼꼼히'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직접 파나, 장터를 깔아 주나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head0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직접 판매 (자사몰)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내 물건을 내가 판다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판매가 − 원가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부담: 재고, 배송, 반품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브랜드 자사몰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head1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플랫폼 (마켓플레이스)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남의 물건이 팔리는 장터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거래액의 몇 % 수수료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숙제: 판매자와 손님을 동시에 모으기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에어비앤비, 크몽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돈 버는 방법 4대장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판매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물건을 팔고 차익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74320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구독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매달 정기 결제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넷플릭스, SaaS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badge3"/>
          <p:cNvSpPr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수수료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거래마다 몇 % 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배달앱, 에어비앤비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694944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광고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방문자에게 광고 노출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블로그, 유튜브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그 밖에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프리미엄(기본 무료) · 사용량 과금 · 리드 판매 · 제휴 마케팅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매출보다 '1개 팔 때 남는 돈'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광고로 손님 1명 데려오는 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5,000원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들면, 첫 구매만으로는 1,800원 손해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재구매와 객단가 올리기가 중요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먼저 외울 용어 12개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MVP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핵심만 넣은 첫 버전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42032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79192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KPI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잘하고 있나 판단하는 숫자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26864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64024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전환율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방문자 중 구매 비율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11696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8856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객단가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주문 1건 평균 금액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CAC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 데려오는 비용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2542032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79192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LTV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1명이 평생 내는 돈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4626864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64024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Churn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해지 비율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711696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MRR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매달 반복 매출</a:t>
            </a:r>
            <a:endParaRPr lang="en-US" sz="1200" dirty="0"/>
          </a:p>
        </p:txBody>
      </p:sp>
      <p:sp>
        <p:nvSpPr>
          <p:cNvPr id="27" name="card"/>
          <p:cNvSpPr/>
          <p:nvPr/>
        </p:nvSpPr>
        <p:spPr>
          <a:xfrm>
            <a:off x="457200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ROAS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광고비 1원당 매출</a:t>
            </a:r>
            <a:endParaRPr lang="en-US" sz="1200" dirty="0"/>
          </a:p>
        </p:txBody>
      </p:sp>
      <p:sp>
        <p:nvSpPr>
          <p:cNvPr id="30" name="card"/>
          <p:cNvSpPr/>
          <p:nvPr/>
        </p:nvSpPr>
        <p:spPr>
          <a:xfrm>
            <a:off x="2542032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9192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679192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검색에 잘 뜨게 하기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4626864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64024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배포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764024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고친 걸 실제 사이트에 반영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6711696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48856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롤백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이전 버전으로 되돌리기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목록은 docs/03-glossary.md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기획에서 출시까지, 그리고 반복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문제 확인</a:t>
            </a:r>
            <a:endParaRPr lang="en-US" sz="1200" dirty="0"/>
          </a:p>
        </p:txBody>
      </p:sp>
      <p:sp>
        <p:nvSpPr>
          <p:cNvPr id="6" name="arrow0"/>
          <p:cNvSpPr/>
          <p:nvPr/>
        </p:nvSpPr>
        <p:spPr>
          <a:xfrm>
            <a:off x="1133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1572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72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정의</a:t>
            </a:r>
            <a:endParaRPr lang="en-US" sz="1200" dirty="0"/>
          </a:p>
        </p:txBody>
      </p:sp>
      <p:sp>
        <p:nvSpPr>
          <p:cNvPr id="10" name="arrow1"/>
          <p:cNvSpPr/>
          <p:nvPr/>
        </p:nvSpPr>
        <p:spPr>
          <a:xfrm>
            <a:off x="2048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2487168" y="1554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87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기능 목록</a:t>
            </a:r>
            <a:endParaRPr lang="en-US" sz="1200" dirty="0"/>
          </a:p>
        </p:txBody>
      </p:sp>
      <p:sp>
        <p:nvSpPr>
          <p:cNvPr id="14" name="arrow2"/>
          <p:cNvSpPr/>
          <p:nvPr/>
        </p:nvSpPr>
        <p:spPr>
          <a:xfrm>
            <a:off x="2962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3401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82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화면 설계</a:t>
            </a:r>
            <a:endParaRPr lang="en-US" sz="1200" dirty="0"/>
          </a:p>
        </p:txBody>
      </p:sp>
      <p:sp>
        <p:nvSpPr>
          <p:cNvPr id="18" name="arrow3"/>
          <p:cNvSpPr/>
          <p:nvPr/>
        </p:nvSpPr>
        <p:spPr>
          <a:xfrm>
            <a:off x="38770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43159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159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디자인</a:t>
            </a:r>
            <a:endParaRPr lang="en-US" sz="1200" dirty="0"/>
          </a:p>
        </p:txBody>
      </p:sp>
      <p:sp>
        <p:nvSpPr>
          <p:cNvPr id="22" name="arrow4"/>
          <p:cNvSpPr/>
          <p:nvPr/>
        </p:nvSpPr>
        <p:spPr>
          <a:xfrm>
            <a:off x="47914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badge6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10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개발</a:t>
            </a:r>
            <a:endParaRPr lang="en-US" sz="1200" dirty="0"/>
          </a:p>
        </p:txBody>
      </p:sp>
      <p:sp>
        <p:nvSpPr>
          <p:cNvPr id="26" name="arrow5"/>
          <p:cNvSpPr/>
          <p:nvPr/>
        </p:nvSpPr>
        <p:spPr>
          <a:xfrm>
            <a:off x="5705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badge7"/>
          <p:cNvSpPr/>
          <p:nvPr/>
        </p:nvSpPr>
        <p:spPr>
          <a:xfrm>
            <a:off x="6144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25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테스트</a:t>
            </a:r>
            <a:endParaRPr lang="en-US" sz="1200" dirty="0"/>
          </a:p>
        </p:txBody>
      </p:sp>
      <p:sp>
        <p:nvSpPr>
          <p:cNvPr id="30" name="arrow6"/>
          <p:cNvSpPr/>
          <p:nvPr/>
        </p:nvSpPr>
        <p:spPr>
          <a:xfrm>
            <a:off x="6620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badge8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059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출시</a:t>
            </a:r>
            <a:endParaRPr lang="en-US" sz="1200" dirty="0"/>
          </a:p>
        </p:txBody>
      </p:sp>
      <p:sp>
        <p:nvSpPr>
          <p:cNvPr id="34" name="arrow7"/>
          <p:cNvSpPr/>
          <p:nvPr/>
        </p:nvSpPr>
        <p:spPr>
          <a:xfrm>
            <a:off x="7534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5" name="badge9"/>
          <p:cNvSpPr/>
          <p:nvPr/>
        </p:nvSpPr>
        <p:spPr>
          <a:xfrm>
            <a:off x="7973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73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54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측정·개선</a:t>
            </a:r>
            <a:endParaRPr lang="en-US" sz="1200" dirty="0"/>
          </a:p>
        </p:txBody>
      </p:sp>
      <p:sp>
        <p:nvSpPr>
          <p:cNvPr id="38" name="loop"/>
          <p:cNvSpPr/>
          <p:nvPr/>
        </p:nvSpPr>
        <p:spPr>
          <a:xfrm>
            <a:off x="2286000" y="2971800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377440" y="2971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⑨ 측정 결과를 보고 ③ 기능 목록으로 돌아가 다시 고친다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첫 출시는 Must 기능만 (MVP)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쇼핑몰이면: 상품 보기 · 장바구니 · 결제 · 주문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사이트는 세 덩어리, 지키는 방법도 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코드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화면, 프로그램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내가 고칠 때만 바뀜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Git (버전 관리)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1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데이터(DB)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회원, 주문, 결제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매초 바뀜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DB 자동 백업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03504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8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파일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상품 사진, 첨부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상품 올릴 때 바뀜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저장소 백업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폴더를 통째로 복사해도 주문·회원 정보(DB)는 빠져 있는 경우가 많다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'백업 폴더 만들어서 고치나요?'에 대한 답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초보자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myshop_최종_진짜최종_수정2/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무엇이 바뀌었는지 모르고, DB는 빠져 있음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card"/>
          <p:cNvSpPr/>
          <p:nvPr/>
        </p:nvSpPr>
        <p:spPr>
          <a:xfrm>
            <a:off x="4389120" y="1188720"/>
            <a:ext cx="42976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현업 방식</a:t>
            </a:r>
            <a:endParaRPr lang="en-US" sz="1600" dirty="0"/>
          </a:p>
        </p:txBody>
      </p:sp>
      <p:sp>
        <p:nvSpPr>
          <p:cNvPr id="10" name="badge1"/>
          <p:cNvSpPr/>
          <p:nvPr/>
        </p:nvSpPr>
        <p:spPr>
          <a:xfrm>
            <a:off x="461772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환경을 나눈다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연습용 사이트(스테이징)에서 먼저 고친다</a:t>
            </a:r>
            <a:endParaRPr lang="en-US" sz="1500" dirty="0"/>
          </a:p>
        </p:txBody>
      </p:sp>
      <p:sp>
        <p:nvSpPr>
          <p:cNvPr id="13" name="badge2"/>
          <p:cNvSpPr/>
          <p:nvPr/>
        </p:nvSpPr>
        <p:spPr>
          <a:xfrm>
            <a:off x="4617720" y="26517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060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Git으로 기록한다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모든 변경을 저장, 언제든 되돌린다</a:t>
            </a:r>
            <a:endParaRPr lang="en-US" sz="1500" dirty="0"/>
          </a:p>
        </p:txBody>
      </p:sp>
      <p:sp>
        <p:nvSpPr>
          <p:cNvPr id="16" name="badge3"/>
          <p:cNvSpPr/>
          <p:nvPr/>
        </p:nvSpPr>
        <p:spPr>
          <a:xfrm>
            <a:off x="4617720" y="3474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DB는 따로 백업한다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손님 데이터는 자동 백업으로 지킨다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환경 3개: 운영 사이트는 직접 고치지 않는다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로컬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연습장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나만 봄. 마음껏 고치고 부수기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rd"/>
          <p:cNvSpPr/>
          <p:nvPr/>
        </p:nvSpPr>
        <p:spPr>
          <a:xfrm>
            <a:off x="333756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스테이징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리허설 무대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운영과 똑같이. 최종 확인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rd"/>
          <p:cNvSpPr/>
          <p:nvPr/>
        </p:nvSpPr>
        <p:spPr>
          <a:xfrm>
            <a:off x="621792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실제 무대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진짜 손님. 직접 수정 금지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빌더(카페24·아임웹)라면?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기존 디자인 스킨을 복사 → 복사본에서 수정 → 확인 후 '대표 디자인으로 적용' = 같은 개념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Git은 게임 세이브와 같다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커밋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18872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 포인트에 저장</a:t>
            </a:r>
            <a:endParaRPr lang="en-US" sz="1300" dirty="0"/>
          </a:p>
        </p:txBody>
      </p:sp>
      <p:sp>
        <p:nvSpPr>
          <p:cNvPr id="7" name="badge2"/>
          <p:cNvSpPr/>
          <p:nvPr/>
        </p:nvSpPr>
        <p:spPr>
          <a:xfrm>
            <a:off x="457200" y="19110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브랜치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847088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복사해 다른 선택지 시험</a:t>
            </a:r>
            <a:endParaRPr lang="en-US" sz="1300" dirty="0"/>
          </a:p>
        </p:txBody>
      </p:sp>
      <p:sp>
        <p:nvSpPr>
          <p:cNvPr id="11" name="badge3"/>
          <p:cNvSpPr/>
          <p:nvPr/>
        </p:nvSpPr>
        <p:spPr>
          <a:xfrm>
            <a:off x="457200" y="256946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0545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머지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50545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좋은 선택지를 본 세이브에 합치기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457200" y="322783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63824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되돌리기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638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이전 세이브 포인트로 돌아가기</a:t>
            </a:r>
            <a:endParaRPr lang="en-US" sz="1300" dirty="0"/>
          </a:p>
        </p:txBody>
      </p:sp>
      <p:sp>
        <p:nvSpPr>
          <p:cNvPr id="19" name="badge5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2219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82219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인터넷 금고에 보관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120640" y="1188720"/>
            <a:ext cx="35661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492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흔한 작업 순서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17830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main에서 브랜치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브랜치에서 고치고 커밋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스테이징에서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 머지 → 배포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문제 시 이전 커밋으로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업데이트(배포) 표준 절차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8046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무엇을 왜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16459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19933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933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DB + 현재 버전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18211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82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스테이징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핵심 흐름 확인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02336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437083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08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시간 고르기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손님 적을 때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521208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accent2"/>
          </a:solidFill>
          <a:ln/>
        </p:spPr>
      </p:sp>
      <p:sp>
        <p:nvSpPr>
          <p:cNvPr id="24" name="badge5"/>
          <p:cNvSpPr/>
          <p:nvPr/>
        </p:nvSpPr>
        <p:spPr>
          <a:xfrm>
            <a:off x="5559552" y="1417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95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배포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4008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7482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482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확인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10–30분 감시</a:t>
            </a:r>
            <a:endParaRPr lang="en-US" sz="1100" dirty="0"/>
          </a:p>
        </p:txBody>
      </p:sp>
      <p:sp>
        <p:nvSpPr>
          <p:cNvPr id="33" name="card"/>
          <p:cNvSpPr/>
          <p:nvPr/>
        </p:nvSpPr>
        <p:spPr>
          <a:xfrm>
            <a:off x="75895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34" name="badge7"/>
          <p:cNvSpPr/>
          <p:nvPr/>
        </p:nvSpPr>
        <p:spPr>
          <a:xfrm>
            <a:off x="79369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9369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릴리스 노트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457200" y="31546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먼저 되돌리고, 나중에 고친다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배포 후 문제가 생기면 원인부터 찾지 말고 롤백. 금요일 저녁·이벤트 직전 배포는 피하기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손님 몰래 바꾸는 3가지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블루-그린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무대 두 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새 버전을 옆에 띄우고 손님 입구만 바꿈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입구를 원래대로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카나리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조금씩 공개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손님 1% → 10% → 100% 순서로 보여 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비율을 0%로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기능 플래그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전등 스위치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기능을 미리 배포해 두고 스위치로 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스위치 끄기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백업의 기본 공식: 3-2-1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개의 복사본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원본 + 백업 2개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가지 저장 장치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한 장치가 고장 나도 안전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개는 다른 장소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해킹·화재에도 살아남게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복구해 봐야 진짜 백업.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분기마다 백업을 연습용 사이트에 되살려 보고 걸린 시간을 잰다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얼마나 잃어도 되나: RPO와 RTO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RPO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치 데이터를 잃어도 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백업을 더 자주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RTO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안에 다시 살려야 하나?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복구 절차 문서화·연습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RPO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RTO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1시간 이하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몇 시간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B2B SaaS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모니터링과 장애 대응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자동으로 지켜볼 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사이트가 살아 있나 (1–5분마다)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오류가 늘었나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느려졌나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서버가 힘든가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주문이 너무 적지 않나 ← 의외로 중요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장애가 나면 5단계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78308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알아채기</a:t>
            </a:r>
            <a:endParaRPr lang="en-US" sz="1400" dirty="0"/>
          </a:p>
        </p:txBody>
      </p:sp>
      <p:sp>
        <p:nvSpPr>
          <p:cNvPr id="10" name="badge2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알리기 (공지)</a:t>
            </a:r>
            <a:endParaRPr lang="en-US" sz="1400" dirty="0"/>
          </a:p>
        </p:txBody>
      </p:sp>
      <p:sp>
        <p:nvSpPr>
          <p:cNvPr id="13" name="badge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멈추기 (롤백)</a:t>
            </a:r>
            <a:endParaRPr lang="en-US" sz="1400" dirty="0"/>
          </a:p>
        </p:txBody>
      </p:sp>
      <p:sp>
        <p:nvSpPr>
          <p:cNvPr id="16" name="badge4"/>
          <p:cNvSpPr/>
          <p:nvPr/>
        </p:nvSpPr>
        <p:spPr>
          <a:xfrm>
            <a:off x="4800600" y="329184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고치기</a:t>
            </a:r>
            <a:endParaRPr lang="en-US" sz="1400" dirty="0"/>
          </a:p>
        </p:txBody>
      </p:sp>
      <p:sp>
        <p:nvSpPr>
          <p:cNvPr id="19" name="badge5"/>
          <p:cNvSpPr/>
          <p:nvPr/>
        </p:nvSpPr>
        <p:spPr>
          <a:xfrm>
            <a:off x="4800600" y="37947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돌아보기 (포스트모템)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작은 사이트도 공격당한다: 보안 기본 6가지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2단계 인증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비밀번호가 털려도 로그인 불가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최신 업데이트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알려진 구멍 막기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최소 권한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직원에겐 필요한 메뉴만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퇴사자 계정 삭제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의외로 사고가 많은 곳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4612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카드번호 저장 안 하기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결제는 PG사에 맡기기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3504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다른 곳에 백업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랜섬웨어 대비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한국에서 쇼핑몰을 시작하는 순서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86868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사업자등록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홈택스</a:t>
            </a:r>
            <a:endParaRPr lang="en-US" sz="1100" dirty="0"/>
          </a:p>
        </p:txBody>
      </p:sp>
      <p:sp>
        <p:nvSpPr>
          <p:cNvPr id="7" name="badge2"/>
          <p:cNvSpPr/>
          <p:nvPr/>
        </p:nvSpPr>
        <p:spPr>
          <a:xfrm>
            <a:off x="2258568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통장·카드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사업용</a:t>
            </a:r>
            <a:endParaRPr lang="en-US" sz="1100" dirty="0"/>
          </a:p>
        </p:txBody>
      </p:sp>
      <p:sp>
        <p:nvSpPr>
          <p:cNvPr id="11" name="badge3"/>
          <p:cNvSpPr/>
          <p:nvPr/>
        </p:nvSpPr>
        <p:spPr>
          <a:xfrm>
            <a:off x="3648456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PG + 에스크로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36976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결제 대행</a:t>
            </a:r>
            <a:endParaRPr lang="en-US" sz="1100" dirty="0"/>
          </a:p>
        </p:txBody>
      </p:sp>
      <p:sp>
        <p:nvSpPr>
          <p:cNvPr id="15" name="badge4"/>
          <p:cNvSpPr/>
          <p:nvPr/>
        </p:nvSpPr>
        <p:spPr>
          <a:xfrm>
            <a:off x="5038344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3834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26864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통신판매업 신고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정부24·구청</a:t>
            </a:r>
            <a:endParaRPr lang="en-US" sz="1100" dirty="0"/>
          </a:p>
        </p:txBody>
      </p:sp>
      <p:sp>
        <p:nvSpPr>
          <p:cNvPr id="19" name="badge5"/>
          <p:cNvSpPr/>
          <p:nvPr/>
        </p:nvSpPr>
        <p:spPr>
          <a:xfrm>
            <a:off x="642823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사이트 표시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16752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사업자정보·약관·처리방침</a:t>
            </a:r>
            <a:endParaRPr lang="en-US" sz="1100" dirty="0"/>
          </a:p>
        </p:txBody>
      </p:sp>
      <p:sp>
        <p:nvSpPr>
          <p:cNvPr id="23" name="badge6"/>
          <p:cNvSpPr/>
          <p:nvPr/>
        </p:nvSpPr>
        <p:spPr>
          <a:xfrm>
            <a:off x="781812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영업·세금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부가세·종소세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5원칙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최소 수집 · 동의(마케팅은 따로) · 처리방침 공개 · 안전 보관 · 파기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법은 자주 바뀝니다. 시작 전 홈택스·정부24·개인정보보호위원회에서 재확인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 = 방문자 × 전환율 × 객단가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전환율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상품 보기 → 장바구니에서 가장 많이 빠진다 (4,000 → 800)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가장 많이 빠지는 단계부터 고친다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B2C와 B2B는 운영이 다르다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B2C (개인)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B2B (기업)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손님 수 · 금액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많고 작다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적고 크다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사기까지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초 ~ 며칠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주 ~ 몇 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결정하는 사람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본인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명 (팀장·구매·보안)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카드 즉시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세금계산서 · 연간 계약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SNS 광고 · 후기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 · 사례 · 세미나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운영 핵심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광고 효율 · 재구매 · CS 대량 처리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SLA · 온보딩 · 고객 성공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리듬: 언제 무엇을 점검하나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주문·문의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모니터링 알림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어제 매출·광고비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매주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백업 성공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데이터 내보내기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보안 업데이트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도메인·카드 만료일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안 쓰는 계정 정리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월 손익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분기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복구 훈련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비밀번호 교체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약관 점검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점검표는 docs/14-checklists.md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여러 가지 사이트 사업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커뮤니티 · 정보 사이트 · 트래픽 수익 · 로또 사이트 · 게임(오목) · 아이템 비교 — 16–21장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커뮤니티: 회원이 콘텐츠를 만든다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글을 열심히 쓴다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57200" y="224028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9%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가끔 댓글을 단다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329184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90%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읽기만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운영의 핵심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6916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주제를 좁게, 처음엔 운영자가 직접 글 쓰기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짧고 구체적인 규칙 + 처벌 수준 명시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모든 제재를 기록, 관리자 권한은 최소한만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삭제 요청엔 삭제 또는 임시조치(최대 30일)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수익화는 회원 신뢰를 해치지 않게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정보 사이트: 검색 → 답 → 광고·제휴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100584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</a:t>
            </a:r>
            <a:endParaRPr lang="en-US" sz="1300" dirty="0"/>
          </a:p>
        </p:txBody>
      </p:sp>
      <p:sp>
        <p:nvSpPr>
          <p:cNvPr id="6" name="flow0"/>
          <p:cNvSpPr/>
          <p:nvPr/>
        </p:nvSpPr>
        <p:spPr>
          <a:xfrm>
            <a:off x="151790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269748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9748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내 페이지 노출</a:t>
            </a:r>
            <a:endParaRPr lang="en-US" sz="1300" dirty="0"/>
          </a:p>
        </p:txBody>
      </p:sp>
      <p:sp>
        <p:nvSpPr>
          <p:cNvPr id="10" name="flow1"/>
          <p:cNvSpPr/>
          <p:nvPr/>
        </p:nvSpPr>
        <p:spPr>
          <a:xfrm>
            <a:off x="320954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438912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클릭(트래픽)</a:t>
            </a:r>
            <a:endParaRPr lang="en-US" sz="1300" dirty="0"/>
          </a:p>
        </p:txBody>
      </p:sp>
      <p:sp>
        <p:nvSpPr>
          <p:cNvPr id="14" name="flow2"/>
          <p:cNvSpPr/>
          <p:nvPr/>
        </p:nvSpPr>
        <p:spPr>
          <a:xfrm>
            <a:off x="490118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6080760" y="123444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답 + 광고</a:t>
            </a:r>
            <a:endParaRPr lang="en-US" sz="1300" dirty="0"/>
          </a:p>
        </p:txBody>
      </p:sp>
      <p:sp>
        <p:nvSpPr>
          <p:cNvPr id="18" name="flow3"/>
          <p:cNvSpPr/>
          <p:nvPr/>
        </p:nvSpPr>
        <p:spPr>
          <a:xfrm>
            <a:off x="659282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777240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재방문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45720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약해진 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'OO란?' 같은 단순 정의 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검색에만 의존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글 대량으로 찍어내기 (스팸)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66344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강해진 것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직접 해 본 후기, 나만의 데이터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계산기 같은 도구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뉴스레터·커뮤니티 구독자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AI 요약이 뜨면 사람들이 링크를 덜 누른다 — AI 검색 시대의 변화 (17장)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트래픽 수익 = 페이지뷰 ÷ 1,000 × RPM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10만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페이지뷰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× 2,000원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RPM (예시)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= 20만 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광고 수익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57200" y="2971800"/>
            <a:ext cx="822960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계정 정지되는 행동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204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 광고 내가 클릭 · '광고 눌러 주세요' · 트래픽 구매·봇 · 금지 콘텐츠 · 위장 광고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제휴 링크엔 '수수료를 받는다'는 광고 표시 필수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RPM은 주제·방문자에 따라 수십 배 차이 — 위 숫자는 계산 연습용 예시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로또 사이트: 어디까지 괜찮나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light0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괜찮음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 번호 통계·그래프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랜덤 생성기 ('재미용' 표시)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당첨금 세금 계산기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light1"/>
          <p:cNvSpPr/>
          <p:nvPr/>
        </p:nvSpPr>
        <p:spPr>
          <a:xfrm>
            <a:off x="3429000" y="1353312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3192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주의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'통계 추천 번호'로 효과 과장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번호 미끼로 전화번호 수집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2" name="light2"/>
          <p:cNvSpPr/>
          <p:nvPr/>
        </p:nvSpPr>
        <p:spPr>
          <a:xfrm>
            <a:off x="6217920" y="13533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위험·불법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유료 '당첨 번호 예측'·보장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복권 구매 대행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로또 번호 사설 베팅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모든 번호 조합의 1등 확률은 같다: 8,145,060분의 1.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돈 받고 당첨을 약속하면 선을 넘은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게임 사이트: 오목으로 배우기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설계 핵심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대전부터 (사람이 적어도 돌아가게)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빠른 대전 매칭 + 레이팅(실력 점수)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판정은 서버가 (조작 방지)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부정행위(AI 따라 두기)·탈주 대응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배포는 진행 중인 판이 끝난 뒤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게임법 3가지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828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등급분류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앱 마켓은 자체 등급, 내 사이트는 직접 확인</a:t>
            </a:r>
            <a:endParaRPr lang="en-US" sz="1500" dirty="0"/>
          </a:p>
        </p:txBody>
      </p:sp>
      <p:sp>
        <p:nvSpPr>
          <p:cNvPr id="10" name="badge2"/>
          <p:cNvSpPr/>
          <p:nvPr/>
        </p:nvSpPr>
        <p:spPr>
          <a:xfrm>
            <a:off x="4800600" y="265176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606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환전 금지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이기면 돈을 받는 구조 = 도박</a:t>
            </a:r>
            <a:endParaRPr lang="en-US" sz="1500" dirty="0"/>
          </a:p>
        </p:txBody>
      </p:sp>
      <p:sp>
        <p:nvSpPr>
          <p:cNvPr id="13" name="badge3"/>
          <p:cNvSpPr/>
          <p:nvPr/>
        </p:nvSpPr>
        <p:spPr>
          <a:xfrm>
            <a:off x="4800600" y="34747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4290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확률 공개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유료 뽑기는 확률을 %로 공개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 아이템 비교와 키우는 순서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아이템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개발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운영 부담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위험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정보 블로그 · 뉴스레터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도구(계산기) 사이트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대전 게임(오목)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SaaS · 중개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852160" y="1143000"/>
            <a:ext cx="2834640" cy="32461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한 주제로 키우기</a:t>
            </a:r>
            <a:endParaRPr lang="en-US" sz="1500" dirty="0"/>
          </a:p>
        </p:txBody>
      </p:sp>
      <p:sp>
        <p:nvSpPr>
          <p:cNvPr id="6" name="badge1"/>
          <p:cNvSpPr/>
          <p:nvPr/>
        </p:nvSpPr>
        <p:spPr>
          <a:xfrm>
            <a:off x="6035040" y="17830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350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정보·도구</a:t>
            </a:r>
            <a:endParaRPr lang="en-US" sz="1500" dirty="0"/>
          </a:p>
        </p:txBody>
      </p:sp>
      <p:sp>
        <p:nvSpPr>
          <p:cNvPr id="9" name="badge2"/>
          <p:cNvSpPr/>
          <p:nvPr/>
        </p:nvSpPr>
        <p:spPr>
          <a:xfrm>
            <a:off x="6035040" y="26060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606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커뮤니티</a:t>
            </a:r>
            <a:endParaRPr lang="en-US" sz="1500" dirty="0"/>
          </a:p>
        </p:txBody>
      </p:sp>
      <p:sp>
        <p:nvSpPr>
          <p:cNvPr id="12" name="badge3"/>
          <p:cNvSpPr/>
          <p:nvPr/>
        </p:nvSpPr>
        <p:spPr>
          <a:xfrm>
            <a:off x="603504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350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3429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게임·상품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앞 단계의 방문자가 다음 단계의 첫 손님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더 넓은 분류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분류 지도 · 셀러 · 크리에이터 · 앱 · 지식·외주 · 중개 플랫폼 · AI · 규제 업종 — 22–29장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사업을 나누는 6가지 기준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누구에게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B2C · B2B · C2C · B2G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실물 · 디지털 · 서비스 · 소프트웨어 · 콘텐츠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어떻게 버나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판매 · 구독 · 수수료 · 광고 · 후원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누가 만드나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운영자 · 회원 · 판매자 · AI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324612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어디서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내 사이트 / 남의 플랫폼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03504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7889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규제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신고만 / 등록·허가 / 금지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아이디어는 6칸을 채워 보며 위험을 찾는다 (22장)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오픈마켓 셀러와 크리에이터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sc0"/>
          <p:cNvSpPr/>
          <p:nvPr/>
        </p:nvSpPr>
        <p:spPr>
          <a:xfrm>
            <a:off x="45720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오픈마켓 셀러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23장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손님은 이미 있음, 대신 수수료·경쟁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사입 · 위탁판매 · 구매대행 · 내 브랜드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마켓 안 검색 최적화 + 수수료 뺀 마진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배송 기한·CS 점수 관리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sc1"/>
          <p:cNvSpPr/>
          <p:nvPr/>
        </p:nvSpPr>
        <p:spPr>
          <a:xfrm>
            <a:off x="466344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크리에이터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24장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콘텐츠 = 제품, 업로드 = 배포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광고 배분 + 후원·멤버십 + 협찬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협찬은 반드시 광고 표시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원본 백업 · 2단계 인증 · 팬을 내 채널로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앱은 웹보다 업데이트가 어렵다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심사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올려도 마켓 심사를 통과해야 나감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되돌리기 불가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이미 깔린 버전은 되돌릴 수 없음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옛 버전 공존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업데이트 안 한 사람이 계속 남음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880360"/>
            <a:ext cx="82296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그래서 쓰는 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단계적 출시 · 베타 테스트 · 기능 플래그 · 서버에서 설정 바꾸기 · 강제 업데이트 · 크래시 리포트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디지털 상품 결제엔 앱 마켓 수수료 15–30% (조건에 따라)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지식·외주 판매와 중개 플랫폼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지식·외주 (26장)</a:t>
            </a:r>
            <a:endParaRPr lang="en-US" sz="1600" dirty="0"/>
          </a:p>
        </p:txBody>
      </p:sp>
      <p:sp>
        <p:nvSpPr>
          <p:cNvPr id="4" name="badge1"/>
          <p:cNvSpPr/>
          <p:nvPr/>
        </p:nvSpPr>
        <p:spPr>
          <a:xfrm>
            <a:off x="457200" y="16916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459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디지털 상품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한 번 만들어 계속 판매</a:t>
            </a:r>
            <a:endParaRPr lang="en-US" sz="1500" dirty="0"/>
          </a:p>
        </p:txBody>
      </p:sp>
      <p:sp>
        <p:nvSpPr>
          <p:cNvPr id="7" name="badge2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514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강의·코칭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만들기 전 사전 신청으로 수요 확인</a:t>
            </a:r>
            <a:endParaRPr lang="en-US" sz="1500" dirty="0"/>
          </a:p>
        </p:txBody>
      </p:sp>
      <p:sp>
        <p:nvSpPr>
          <p:cNvPr id="10" name="badge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83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외주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계약서: 범위·수정 횟수·저작권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중개 플랫폼 (27장)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한쪽 먼저, 좁은 지역·분야부터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신뢰 장치: 본인 확인·리뷰·안전결제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탈중개(직거래) 막을 혜택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구인구직·결혼중개·숙박·의료는 업종별 신고·등록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AI 서비스: 쓸 때마다 원가가 나간다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운영 체크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606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사용량 제한·과금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틀린 답(환각)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모델 바뀌면 테스트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입력 정보 외부 전송 고지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생성물 표시 (AI 기본법)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 전에 확인할 규제 업종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4" name="reg0"/>
          <p:cNvSpPr/>
          <p:nvPr/>
        </p:nvSpPr>
        <p:spPr>
          <a:xfrm>
            <a:off x="640080" y="1344168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188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신고 정도면 시작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188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일반 쇼핑몰 · 정보 사이트 · 템플릿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57200" y="1993392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8" name="reg1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19933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추가 신고·등록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9933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건강기능식품 · 직업소개 · 위치정보 · 게임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57200" y="2798064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2" name="reg2"/>
          <p:cNvSpPr/>
          <p:nvPr/>
        </p:nvSpPr>
        <p:spPr>
          <a:xfrm>
            <a:off x="640080" y="2953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88720" y="2798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허가·라이선스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9806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결제·송금 · 투자자문 · 가상자산 · 의료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3602736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6" name="reg3"/>
          <p:cNvSpPr/>
          <p:nvPr/>
        </p:nvSpPr>
        <p:spPr>
          <a:xfrm>
            <a:off x="640080" y="3758184"/>
            <a:ext cx="365760" cy="36576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88720" y="360273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온라인 판매 금지·제한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60273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의약품 · 담배 · 주류(일부 예외) · 도수 렌즈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애매하면 정부24에서 업종 인허가 검색, 관계 기관·전문가에게 확인 (29장)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안전하게, 자주 반복하기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기획 → 백업 → 연습용 사이트에서 수정 → 확인 → 배포 → 감시 → 숫자 보기 → 다시 기획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다음 할 일: docs/13-practice-scenario.md 를 읽고 15장 퀴즈 풀기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efront">
  <a:themeElements>
    <a:clrScheme name="Storefront">
      <a:dk1>
        <a:srgbClr val="1B2B2E"/>
      </a:dk1>
      <a:lt1>
        <a:srgbClr val="FFFFFF"/>
      </a:lt1>
      <a:dk2>
        <a:srgbClr val="1F4E4A"/>
      </a:dk2>
      <a:lt2>
        <a:srgbClr val="EEF4F3"/>
      </a:lt2>
      <a:accent1>
        <a:srgbClr val="1F4E4A"/>
      </a:accent1>
      <a:accent2>
        <a:srgbClr val="F08A3E"/>
      </a:accent2>
      <a:accent3>
        <a:srgbClr val="2E9C8F"/>
      </a:accent3>
      <a:accent4>
        <a:srgbClr val="7A8C8E"/>
      </a:accent4>
      <a:accent5>
        <a:srgbClr val="D9534F"/>
      </a:accent5>
      <a:accent6>
        <a:srgbClr val="F4C95D"/>
      </a:accent6>
      <a:hlink>
        <a:srgbClr val="2E9C8F"/>
      </a:hlink>
      <a:folHlink>
        <a:srgbClr val="7A8C8E"/>
      </a:folHlink>
    </a:clrScheme>
    <a:fontScheme name="Storefro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인터넷 사업 101</dc:title>
  <dc:subject>PptxGenJS Presentation</dc:subject>
  <dc:creator>PptxGenJS</dc:creator>
  <cp:lastModifiedBy>PptxGenJS</cp:lastModifiedBy>
  <cp:revision>1</cp:revision>
  <dcterms:created xsi:type="dcterms:W3CDTF">2026-10-28T07:51:54Z</dcterms:created>
  <dcterms:modified xsi:type="dcterms:W3CDTF">2026-10-28T07:51:54Z</dcterms:modified>
</cp:coreProperties>
</file>