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a469fb5-c01d-9712-1418-f5ce22a07055}">
          <p14:sldIdLst>
            <p14:sldId id="256"/>
            <p14:sldId id="257"/>
          </p14:sldIdLst>
        </p14:section>
        <p14:section name="큰 그림" id="{739f7a62-465a-bf6e-1366-97462fd1b906}">
          <p14:sldIdLst>
            <p14:sldId id="258"/>
            <p14:sldId id="259"/>
            <p14:sldId id="260"/>
            <p14:sldId id="261"/>
            <p14:sldId id="262"/>
          </p14:sldIdLst>
        </p14:section>
        <p14:section name="만들기" id="{0f81e159-f2c8-7530-1af1-0d7b8cb0c9e1}">
          <p14:sldIdLst>
            <p14:sldId id="263"/>
            <p14:sldId id="264"/>
          </p14:sldIdLst>
        </p14:section>
        <p14:section name="운영하기" id="{472555bc-3b03-f45b-beb8-1f834ed3ea85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키우기" id="{53c0864b-eafe-6036-1833-e110e5e882dc}">
          <p14:sldIdLst>
            <p14:sldId id="275"/>
            <p14:sldId id="276"/>
          </p14:sldIdLst>
        </p14:section>
        <p14:section name="실전" id="{5a8d6310-1522-de7b-d56e-853616473cba}">
          <p14:sldIdLst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1만 원짜리 간식 1개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금액(원)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08A3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판매가</c:v>
                  </c:pt>
                  <c:pt idx="1">
                    <c:v>재료·포장</c:v>
                  </c:pt>
                  <c:pt idx="2">
                    <c:v>택배비</c:v>
                  </c:pt>
                  <c:pt idx="3">
                    <c:v>결제 수수료</c:v>
                  </c:pt>
                  <c:pt idx="4">
                    <c:v>남는 돈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</c:v>
                </c:pt>
                <c:pt idx="1">
                  <c:v>3500</c:v>
                </c:pt>
                <c:pt idx="2">
                  <c:v>3000</c:v>
                </c:pt>
                <c:pt idx="3">
                  <c:v>300</c:v>
                </c:pt>
                <c:pt idx="4">
                  <c:v>3200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퍼널: 단계마다 손님이 줄어든다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명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08A3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방문</c:v>
                  </c:pt>
                  <c:pt idx="1">
                    <c:v>상품 보기</c:v>
                  </c:pt>
                  <c:pt idx="2">
                    <c:v>장바구니</c:v>
                  </c:pt>
                  <c:pt idx="3">
                    <c:v>결제 시작</c:v>
                  </c:pt>
                  <c:pt idx="4">
                    <c:v>결제 완료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</c:v>
                </c:pt>
                <c:pt idx="1">
                  <c:v>4000</c:v>
                </c:pt>
                <c:pt idx="2">
                  <c:v>800</c:v>
                </c:pt>
                <c:pt idx="3">
                  <c:v>400</c:v>
                </c:pt>
                <c:pt idx="4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docs/ 폴더의 15장 글을 한 장씩 요약한 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인터넷 사업 101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사이트를 만들고, 고치고, 지키고, 키우는 법 — 입문부터 실전까지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이 덱의 흐름: 5단계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1005840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큰 그림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사업 종류 · 수익 모델 · 용어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1–3장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2121408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670048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0048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12848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만들기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기획 · 사이트 구조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4–5장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3785616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accent2"/>
          </a:solidFill>
          <a:ln/>
        </p:spPr>
      </p:sp>
      <p:sp>
        <p:nvSpPr>
          <p:cNvPr id="16" name="badge3"/>
          <p:cNvSpPr/>
          <p:nvPr/>
        </p:nvSpPr>
        <p:spPr>
          <a:xfrm>
            <a:off x="4334256" y="155448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34256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877056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운영하기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895344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환경 · 배포 · 백업 · 장애 · 법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877056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6–10장</a:t>
            </a:r>
            <a:endParaRPr lang="en-US" sz="1100" dirty="0"/>
          </a:p>
        </p:txBody>
      </p:sp>
      <p:sp>
        <p:nvSpPr>
          <p:cNvPr id="21" name="card"/>
          <p:cNvSpPr/>
          <p:nvPr/>
        </p:nvSpPr>
        <p:spPr>
          <a:xfrm>
            <a:off x="5449824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2" name="badge4"/>
          <p:cNvSpPr/>
          <p:nvPr/>
        </p:nvSpPr>
        <p:spPr>
          <a:xfrm>
            <a:off x="5998464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98464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541264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키우기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559552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마케팅 · 데이터 · B2B/B2C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541264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11–12장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7114032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8" name="badge5"/>
          <p:cNvSpPr/>
          <p:nvPr/>
        </p:nvSpPr>
        <p:spPr>
          <a:xfrm>
            <a:off x="7662672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62672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205472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실전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223760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시뮬레이션 · 체크리스트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205472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13–15장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가운데 '운영하기'가 이 공부의 중심입니다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누가 누구에게 파는가: B · C · G</a:t>
            </a:r>
            <a:endParaRPr lang="en-US" sz="2800" dirty="0"/>
          </a:p>
        </p:txBody>
      </p:sp>
      <p:sp>
        <p:nvSpPr>
          <p:cNvPr id="3" name="letterB"/>
          <p:cNvSpPr/>
          <p:nvPr/>
        </p:nvSpPr>
        <p:spPr>
          <a:xfrm>
            <a:off x="457200" y="123444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기업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Business</a:t>
            </a:r>
            <a:endParaRPr lang="en-US" sz="1400" dirty="0"/>
          </a:p>
        </p:txBody>
      </p:sp>
      <p:sp>
        <p:nvSpPr>
          <p:cNvPr id="6" name="letterC"/>
          <p:cNvSpPr/>
          <p:nvPr/>
        </p:nvSpPr>
        <p:spPr>
          <a:xfrm>
            <a:off x="457200" y="228600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377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개인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Consumer</a:t>
            </a:r>
            <a:endParaRPr lang="en-US" sz="1400" dirty="0"/>
          </a:p>
        </p:txBody>
      </p:sp>
      <p:sp>
        <p:nvSpPr>
          <p:cNvPr id="9" name="letterG"/>
          <p:cNvSpPr/>
          <p:nvPr/>
        </p:nvSpPr>
        <p:spPr>
          <a:xfrm>
            <a:off x="457200" y="333756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37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G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429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정부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Government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3383280" y="123444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20440" y="13441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B2C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개인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17647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쇼핑몰, 넷플릭스</a:t>
            </a:r>
            <a:endParaRPr lang="en-US" sz="1200" dirty="0"/>
          </a:p>
        </p:txBody>
      </p:sp>
      <p:sp>
        <p:nvSpPr>
          <p:cNvPr id="16" name="card"/>
          <p:cNvSpPr/>
          <p:nvPr/>
        </p:nvSpPr>
        <p:spPr>
          <a:xfrm>
            <a:off x="6080760" y="123444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3441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B2B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기업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647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슬랙, 회계 프로그램</a:t>
            </a:r>
            <a:endParaRPr lang="en-US" sz="1200" dirty="0"/>
          </a:p>
        </p:txBody>
      </p:sp>
      <p:sp>
        <p:nvSpPr>
          <p:cNvPr id="20" name="card"/>
          <p:cNvSpPr/>
          <p:nvPr/>
        </p:nvSpPr>
        <p:spPr>
          <a:xfrm>
            <a:off x="3383280" y="228600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20440" y="2395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C2C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개인 → 개인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520440" y="2816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당근마켓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6080760" y="228600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0" y="2395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B2B2C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기업 → 개인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2816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배달앱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3383280" y="333756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0440" y="34472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D2C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3474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제조사 → 개인 직접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520440" y="38679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브랜드 자사몰</a:t>
            </a:r>
            <a:endParaRPr lang="en-US" sz="1200" dirty="0"/>
          </a:p>
        </p:txBody>
      </p:sp>
      <p:sp>
        <p:nvSpPr>
          <p:cNvPr id="32" name="card"/>
          <p:cNvSpPr/>
          <p:nvPr/>
        </p:nvSpPr>
        <p:spPr>
          <a:xfrm>
            <a:off x="6080760" y="333756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17920" y="34472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B2G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3474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정부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217920" y="38679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공공 입찰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B2C는 '많이·싸게·빨리', B2B는 '적게·비싸게·꼼꼼히'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직접 파나, 장터를 깔아 주나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head0"/>
          <p:cNvSpPr/>
          <p:nvPr/>
        </p:nvSpPr>
        <p:spPr>
          <a:xfrm>
            <a:off x="45720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직접 판매 (자사몰)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내 물건을 내가 판다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517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돈: 판매가 − 원가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부담: 재고, 배송, 반품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예: 브랜드 자사몰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663440" y="123444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head1"/>
          <p:cNvSpPr/>
          <p:nvPr/>
        </p:nvSpPr>
        <p:spPr>
          <a:xfrm>
            <a:off x="466344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234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플랫폼 (마켓플레이스)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남의 물건이 팔리는 장터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6517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돈: 거래액의 몇 % 수수료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숙제: 판매자와 손님을 동시에 모으기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예: 에어비앤비, 크몽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돈 버는 방법 4대장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판매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물건을 팔고 차익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쇼핑몰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256032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74320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320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구독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매달 정기 결제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넷플릭스, SaaS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66344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6" name="badge3"/>
          <p:cNvSpPr/>
          <p:nvPr/>
        </p:nvSpPr>
        <p:spPr>
          <a:xfrm>
            <a:off x="484632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수수료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거래마다 몇 % 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배달앱, 에어비앤비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676656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22" name="badge4"/>
          <p:cNvSpPr/>
          <p:nvPr/>
        </p:nvSpPr>
        <p:spPr>
          <a:xfrm>
            <a:off x="694944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4944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광고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방문자에게 광고 노출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블로그, 유튜브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그 밖에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프리미엄(기본 무료) · 사용량 과금 · 리드 판매 · 제휴 마케팅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매출보다 '1개 팔 때 남는 돈'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28016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광고로 손님 1명 데려오는 데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5,000원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606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 들면, 첫 구매만으로는 1,800원 손해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383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재구매와 객단가 올리기가 중요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먼저 외울 용어 12개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MVP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핵심만 넣은 첫 버전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2542032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79192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KPI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679192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잘하고 있나 판단하는 숫자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4626864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64024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전환율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764024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방문자 중 구매 비율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6711696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48856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객단가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848856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주문 1건 평균 금액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57200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CAC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1명 데려오는 비용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2542032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679192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LTV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679192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1명이 평생 내는 돈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4626864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64024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Churn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764024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구독 해지 비율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6711696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48856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MRR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848856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매달 반복 매출</a:t>
            </a:r>
            <a:endParaRPr lang="en-US" sz="1200" dirty="0"/>
          </a:p>
        </p:txBody>
      </p:sp>
      <p:sp>
        <p:nvSpPr>
          <p:cNvPr id="27" name="card"/>
          <p:cNvSpPr/>
          <p:nvPr/>
        </p:nvSpPr>
        <p:spPr>
          <a:xfrm>
            <a:off x="457200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ROAS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광고비 1원당 매출</a:t>
            </a:r>
            <a:endParaRPr lang="en-US" sz="1200" dirty="0"/>
          </a:p>
        </p:txBody>
      </p:sp>
      <p:sp>
        <p:nvSpPr>
          <p:cNvPr id="30" name="card"/>
          <p:cNvSpPr/>
          <p:nvPr/>
        </p:nvSpPr>
        <p:spPr>
          <a:xfrm>
            <a:off x="2542032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679192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SEO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679192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검색에 잘 뜨게 하기</a:t>
            </a:r>
            <a:endParaRPr lang="en-US" sz="1200" dirty="0"/>
          </a:p>
        </p:txBody>
      </p:sp>
      <p:sp>
        <p:nvSpPr>
          <p:cNvPr id="33" name="card"/>
          <p:cNvSpPr/>
          <p:nvPr/>
        </p:nvSpPr>
        <p:spPr>
          <a:xfrm>
            <a:off x="4626864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64024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배포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4764024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고친 걸 실제 사이트에 반영</a:t>
            </a:r>
            <a:endParaRPr lang="en-US" sz="1200" dirty="0"/>
          </a:p>
        </p:txBody>
      </p:sp>
      <p:sp>
        <p:nvSpPr>
          <p:cNvPr id="36" name="card"/>
          <p:cNvSpPr/>
          <p:nvPr/>
        </p:nvSpPr>
        <p:spPr>
          <a:xfrm>
            <a:off x="6711696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848856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롤백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6848856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이전 버전으로 되돌리기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전체 목록은 docs/03-glossary.md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기획에서 출시까지, 그리고 반복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6583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389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문제 확인</a:t>
            </a:r>
            <a:endParaRPr lang="en-US" sz="1200" dirty="0"/>
          </a:p>
        </p:txBody>
      </p:sp>
      <p:sp>
        <p:nvSpPr>
          <p:cNvPr id="6" name="arrow0"/>
          <p:cNvSpPr/>
          <p:nvPr/>
        </p:nvSpPr>
        <p:spPr>
          <a:xfrm>
            <a:off x="11338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badge2"/>
          <p:cNvSpPr/>
          <p:nvPr/>
        </p:nvSpPr>
        <p:spPr>
          <a:xfrm>
            <a:off x="15727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5727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정의</a:t>
            </a:r>
            <a:endParaRPr lang="en-US" sz="1200" dirty="0"/>
          </a:p>
        </p:txBody>
      </p:sp>
      <p:sp>
        <p:nvSpPr>
          <p:cNvPr id="10" name="arrow1"/>
          <p:cNvSpPr/>
          <p:nvPr/>
        </p:nvSpPr>
        <p:spPr>
          <a:xfrm>
            <a:off x="20482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badge3"/>
          <p:cNvSpPr/>
          <p:nvPr/>
        </p:nvSpPr>
        <p:spPr>
          <a:xfrm>
            <a:off x="2487168" y="1554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871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677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기능 목록</a:t>
            </a:r>
            <a:endParaRPr lang="en-US" sz="1200" dirty="0"/>
          </a:p>
        </p:txBody>
      </p:sp>
      <p:sp>
        <p:nvSpPr>
          <p:cNvPr id="14" name="arrow2"/>
          <p:cNvSpPr/>
          <p:nvPr/>
        </p:nvSpPr>
        <p:spPr>
          <a:xfrm>
            <a:off x="29626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badge4"/>
          <p:cNvSpPr/>
          <p:nvPr/>
        </p:nvSpPr>
        <p:spPr>
          <a:xfrm>
            <a:off x="34015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015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821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화면 설계</a:t>
            </a:r>
            <a:endParaRPr lang="en-US" sz="1200" dirty="0"/>
          </a:p>
        </p:txBody>
      </p:sp>
      <p:sp>
        <p:nvSpPr>
          <p:cNvPr id="18" name="arrow3"/>
          <p:cNvSpPr/>
          <p:nvPr/>
        </p:nvSpPr>
        <p:spPr>
          <a:xfrm>
            <a:off x="38770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9" name="badge5"/>
          <p:cNvSpPr/>
          <p:nvPr/>
        </p:nvSpPr>
        <p:spPr>
          <a:xfrm>
            <a:off x="43159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159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디자인</a:t>
            </a:r>
            <a:endParaRPr lang="en-US" sz="1200" dirty="0"/>
          </a:p>
        </p:txBody>
      </p:sp>
      <p:sp>
        <p:nvSpPr>
          <p:cNvPr id="22" name="arrow4"/>
          <p:cNvSpPr/>
          <p:nvPr/>
        </p:nvSpPr>
        <p:spPr>
          <a:xfrm>
            <a:off x="47914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badge6"/>
          <p:cNvSpPr/>
          <p:nvPr/>
        </p:nvSpPr>
        <p:spPr>
          <a:xfrm>
            <a:off x="52303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303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0109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개발</a:t>
            </a:r>
            <a:endParaRPr lang="en-US" sz="1200" dirty="0"/>
          </a:p>
        </p:txBody>
      </p:sp>
      <p:sp>
        <p:nvSpPr>
          <p:cNvPr id="26" name="arrow5"/>
          <p:cNvSpPr/>
          <p:nvPr/>
        </p:nvSpPr>
        <p:spPr>
          <a:xfrm>
            <a:off x="57058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7" name="badge7"/>
          <p:cNvSpPr/>
          <p:nvPr/>
        </p:nvSpPr>
        <p:spPr>
          <a:xfrm>
            <a:off x="61447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447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253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테스트</a:t>
            </a:r>
            <a:endParaRPr lang="en-US" sz="1200" dirty="0"/>
          </a:p>
        </p:txBody>
      </p:sp>
      <p:sp>
        <p:nvSpPr>
          <p:cNvPr id="30" name="arrow6"/>
          <p:cNvSpPr/>
          <p:nvPr/>
        </p:nvSpPr>
        <p:spPr>
          <a:xfrm>
            <a:off x="66202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1" name="badge8"/>
          <p:cNvSpPr/>
          <p:nvPr/>
        </p:nvSpPr>
        <p:spPr>
          <a:xfrm>
            <a:off x="70591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0591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8397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출시</a:t>
            </a:r>
            <a:endParaRPr lang="en-US" sz="1200" dirty="0"/>
          </a:p>
        </p:txBody>
      </p:sp>
      <p:sp>
        <p:nvSpPr>
          <p:cNvPr id="34" name="arrow7"/>
          <p:cNvSpPr/>
          <p:nvPr/>
        </p:nvSpPr>
        <p:spPr>
          <a:xfrm>
            <a:off x="75346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5" name="badge9"/>
          <p:cNvSpPr/>
          <p:nvPr/>
        </p:nvSpPr>
        <p:spPr>
          <a:xfrm>
            <a:off x="79735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9735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9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541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측정·개선</a:t>
            </a:r>
            <a:endParaRPr lang="en-US" sz="1200" dirty="0"/>
          </a:p>
        </p:txBody>
      </p:sp>
      <p:sp>
        <p:nvSpPr>
          <p:cNvPr id="38" name="loop"/>
          <p:cNvSpPr/>
          <p:nvPr/>
        </p:nvSpPr>
        <p:spPr>
          <a:xfrm>
            <a:off x="2286000" y="2971800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377440" y="29718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⑨ 측정 결과를 보고 ③ 기능 목록으로 돌아가 다시 고친다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3703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첫 출시는 Must 기능만 (MVP)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쇼핑몰이면: 상품 보기 · 장바구니 · 결제 · 주문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사이트는 세 덩어리, 지키는 방법도 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코드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화면, 프로그램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내가 고칠 때만 바뀜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Git (버전 관리)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324612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11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데이터(DB)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회원, 주문, 결제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매초 바뀜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DB 자동 백업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03504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18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파일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상품 사진, 첨부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상품 올릴 때 바뀜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저장소 백업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폴더를 통째로 복사해도 주문·회원 정보(DB)는 빠져 있는 경우가 많다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'백업 폴더 만들어서 고치나요?'에 대한 답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29184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초보자 방식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myshop_backup/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myshop_최종_진짜최종/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myshop_최종_진짜최종_수정2/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20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무엇이 바뀌었는지 모르고, DB는 빠져 있음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377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→</a:t>
            </a:r>
            <a:endParaRPr lang="en-US" sz="3000" dirty="0"/>
          </a:p>
        </p:txBody>
      </p:sp>
      <p:sp>
        <p:nvSpPr>
          <p:cNvPr id="8" name="card"/>
          <p:cNvSpPr/>
          <p:nvPr/>
        </p:nvSpPr>
        <p:spPr>
          <a:xfrm>
            <a:off x="4389120" y="1188720"/>
            <a:ext cx="429768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현업 방식</a:t>
            </a:r>
            <a:endParaRPr lang="en-US" sz="1600" dirty="0"/>
          </a:p>
        </p:txBody>
      </p:sp>
      <p:sp>
        <p:nvSpPr>
          <p:cNvPr id="10" name="badge1"/>
          <p:cNvSpPr/>
          <p:nvPr/>
        </p:nvSpPr>
        <p:spPr>
          <a:xfrm>
            <a:off x="4617720" y="18288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178308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환경을 나눈다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연습용 사이트(스테이징)에서 먼저 고친다</a:t>
            </a:r>
            <a:endParaRPr lang="en-US" sz="1500" dirty="0"/>
          </a:p>
        </p:txBody>
      </p:sp>
      <p:sp>
        <p:nvSpPr>
          <p:cNvPr id="13" name="badge2"/>
          <p:cNvSpPr/>
          <p:nvPr/>
        </p:nvSpPr>
        <p:spPr>
          <a:xfrm>
            <a:off x="4617720" y="265176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60604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Git으로 기록한다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모든 변경을 저장, 언제든 되돌린다</a:t>
            </a:r>
            <a:endParaRPr lang="en-US" sz="1500" dirty="0"/>
          </a:p>
        </p:txBody>
      </p:sp>
      <p:sp>
        <p:nvSpPr>
          <p:cNvPr id="16" name="badge3"/>
          <p:cNvSpPr/>
          <p:nvPr/>
        </p:nvSpPr>
        <p:spPr>
          <a:xfrm>
            <a:off x="4617720" y="34747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1772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42900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DB는 따로 백업한다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손님 데이터는 자동 백업으로 지킨다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환경 3개: 운영 사이트는 직접 고치지 않는다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로컬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연습장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나만 봄. 마음껏 고치고 부수기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971800" y="2011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card"/>
          <p:cNvSpPr/>
          <p:nvPr/>
        </p:nvSpPr>
        <p:spPr>
          <a:xfrm>
            <a:off x="333756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2044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스테이징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리허설 무대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운영과 똑같이. 최종 확인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011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card"/>
          <p:cNvSpPr/>
          <p:nvPr/>
        </p:nvSpPr>
        <p:spPr>
          <a:xfrm>
            <a:off x="621792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운영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실제 무대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진짜 손님. 직접 수정 금지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빌더(카페24·아임웹)라면?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기존 디자인 스킨을 복사 → 복사본에서 수정 → 확인 후 '대표 디자인으로 적용' = 같은 개념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Git은 게임 세이브와 같다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457200" y="125272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88720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커밋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18872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 포인트에 저장</a:t>
            </a:r>
            <a:endParaRPr lang="en-US" sz="1300" dirty="0"/>
          </a:p>
        </p:txBody>
      </p:sp>
      <p:sp>
        <p:nvSpPr>
          <p:cNvPr id="7" name="badge2"/>
          <p:cNvSpPr/>
          <p:nvPr/>
        </p:nvSpPr>
        <p:spPr>
          <a:xfrm>
            <a:off x="457200" y="19110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847088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브랜치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847088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세이브를 복사해 다른 선택지 시험</a:t>
            </a:r>
            <a:endParaRPr lang="en-US" sz="1300" dirty="0"/>
          </a:p>
        </p:txBody>
      </p:sp>
      <p:sp>
        <p:nvSpPr>
          <p:cNvPr id="11" name="badge3"/>
          <p:cNvSpPr/>
          <p:nvPr/>
        </p:nvSpPr>
        <p:spPr>
          <a:xfrm>
            <a:off x="457200" y="256946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505456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머지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250545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좋은 선택지를 본 세이브에 합치기</a:t>
            </a:r>
            <a:endParaRPr lang="en-US" sz="1300" dirty="0"/>
          </a:p>
        </p:txBody>
      </p:sp>
      <p:sp>
        <p:nvSpPr>
          <p:cNvPr id="15" name="badge4"/>
          <p:cNvSpPr/>
          <p:nvPr/>
        </p:nvSpPr>
        <p:spPr>
          <a:xfrm>
            <a:off x="457200" y="3227832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163824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되돌리기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31638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이전 세이브 포인트로 돌아가기</a:t>
            </a:r>
            <a:endParaRPr lang="en-US" sz="1300" dirty="0"/>
          </a:p>
        </p:txBody>
      </p:sp>
      <p:sp>
        <p:nvSpPr>
          <p:cNvPr id="19" name="badge5"/>
          <p:cNvSpPr/>
          <p:nvPr/>
        </p:nvSpPr>
        <p:spPr>
          <a:xfrm>
            <a:off x="457200" y="38862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822192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286000" y="382219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세이브를 인터넷 금고에 보관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5120640" y="1188720"/>
            <a:ext cx="35661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3492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흔한 작업 순서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49240" y="17830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main에서 브랜치 만들기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브랜치에서 고치고 커밋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스테이징에서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main에 머지 → 배포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문제 시 이전 커밋으로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업데이트(배포) 표준 절차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80467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무엇을 왜</a:t>
            </a:r>
            <a:endParaRPr lang="en-US" sz="1100" dirty="0"/>
          </a:p>
        </p:txBody>
      </p:sp>
      <p:sp>
        <p:nvSpPr>
          <p:cNvPr id="8" name="card"/>
          <p:cNvSpPr/>
          <p:nvPr/>
        </p:nvSpPr>
        <p:spPr>
          <a:xfrm>
            <a:off x="164592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199339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9933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백업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DB + 현재 버전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283464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318211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18211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스테이징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88036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핵심 흐름 확인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402336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437083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7083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6908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시간 고르기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손님 적을 때</a:t>
            </a:r>
            <a:endParaRPr lang="en-US" sz="1100" dirty="0"/>
          </a:p>
        </p:txBody>
      </p:sp>
      <p:sp>
        <p:nvSpPr>
          <p:cNvPr id="23" name="card"/>
          <p:cNvSpPr/>
          <p:nvPr/>
        </p:nvSpPr>
        <p:spPr>
          <a:xfrm>
            <a:off x="521208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accent2"/>
          </a:solidFill>
          <a:ln/>
        </p:spPr>
      </p:sp>
      <p:sp>
        <p:nvSpPr>
          <p:cNvPr id="24" name="badge5"/>
          <p:cNvSpPr/>
          <p:nvPr/>
        </p:nvSpPr>
        <p:spPr>
          <a:xfrm>
            <a:off x="5559552" y="14173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5595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25780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배포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25780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8" name="card"/>
          <p:cNvSpPr/>
          <p:nvPr/>
        </p:nvSpPr>
        <p:spPr>
          <a:xfrm>
            <a:off x="640080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29" name="badge6"/>
          <p:cNvSpPr/>
          <p:nvPr/>
        </p:nvSpPr>
        <p:spPr>
          <a:xfrm>
            <a:off x="674827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7482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확인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10–30분 감시</a:t>
            </a:r>
            <a:endParaRPr lang="en-US" sz="1100" dirty="0"/>
          </a:p>
        </p:txBody>
      </p:sp>
      <p:sp>
        <p:nvSpPr>
          <p:cNvPr id="33" name="card"/>
          <p:cNvSpPr/>
          <p:nvPr/>
        </p:nvSpPr>
        <p:spPr>
          <a:xfrm>
            <a:off x="758952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34" name="badge7"/>
          <p:cNvSpPr/>
          <p:nvPr/>
        </p:nvSpPr>
        <p:spPr>
          <a:xfrm>
            <a:off x="793699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9369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63524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기록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63524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릴리스 노트</a:t>
            </a:r>
            <a:endParaRPr lang="en-US" sz="1100" dirty="0"/>
          </a:p>
        </p:txBody>
      </p:sp>
      <p:sp>
        <p:nvSpPr>
          <p:cNvPr id="38" name="card"/>
          <p:cNvSpPr/>
          <p:nvPr/>
        </p:nvSpPr>
        <p:spPr>
          <a:xfrm>
            <a:off x="457200" y="3154680"/>
            <a:ext cx="82296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먼저 되돌리고, 나중에 고친다</a:t>
            </a:r>
            <a:endParaRPr lang="en-US" sz="2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3749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배포 후 문제가 생기면 원인부터 찾지 말고 롤백. 금요일 저녁·이벤트 직전 배포는 피하기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손님 몰래 바꾸는 3가지 기술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블루-그린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무대 두 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새 버전을 옆에 띄우고 손님 입구만 바꿈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입구를 원래대로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카나리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조금씩 공개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손님 1% → 10% → 100% 순서로 보여 줌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비율을 0%로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기능 플래그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전등 스위치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기능을 미리 배포해 두고 스위치로 켬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스위치 끄기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백업의 기본 공식: 3-2-1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3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개의 복사본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원본 + 백업 2개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2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가지 저장 장치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한 장치가 고장 나도 안전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1</a:t>
            </a:r>
            <a:endParaRPr lang="en-US" sz="66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개는 다른 장소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해킹·화재에도 살아남게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복구해 봐야 진짜 백업.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분기마다 백업을 연습용 사이트에 되살려 보고 걸린 시간을 잰다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얼마나 잃어도 되나: RPO와 RTO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RPO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몇 시간 치 데이터를 잃어도 되나?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14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줄이려면 → 백업을 더 자주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66344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RTO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몇 시간 안에 다시 살려야 하나?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514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줄이려면 → 복구 절차 문서화·연습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사이트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RPO 예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RTO 예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블로그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1일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1일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쇼핑몰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1시간 이하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몇 시간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B2B SaaS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계약(SLA)대로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계약(SLA)대로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모니터링과 장애 대응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자동으로 지켜볼 것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사이트가 살아 있나 (1–5분마다)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오류가 늘었나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느려졌나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서버가 힘든가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주문이 너무 적지 않나 ← 의외로 중요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장애가 나면 5단계</a:t>
            </a:r>
            <a:endParaRPr lang="en-US" sz="1600" dirty="0"/>
          </a:p>
        </p:txBody>
      </p:sp>
      <p:sp>
        <p:nvSpPr>
          <p:cNvPr id="7" name="badge1"/>
          <p:cNvSpPr/>
          <p:nvPr/>
        </p:nvSpPr>
        <p:spPr>
          <a:xfrm>
            <a:off x="4800600" y="178308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0060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알아채기</a:t>
            </a:r>
            <a:endParaRPr lang="en-US" sz="1400" dirty="0"/>
          </a:p>
        </p:txBody>
      </p:sp>
      <p:sp>
        <p:nvSpPr>
          <p:cNvPr id="10" name="badge2"/>
          <p:cNvSpPr/>
          <p:nvPr/>
        </p:nvSpPr>
        <p:spPr>
          <a:xfrm>
            <a:off x="4800600" y="22860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알리기 (공지)</a:t>
            </a:r>
            <a:endParaRPr lang="en-US" sz="1400" dirty="0"/>
          </a:p>
        </p:txBody>
      </p:sp>
      <p:sp>
        <p:nvSpPr>
          <p:cNvPr id="13" name="badge3"/>
          <p:cNvSpPr/>
          <p:nvPr/>
        </p:nvSpPr>
        <p:spPr>
          <a:xfrm>
            <a:off x="4800600" y="2788920"/>
            <a:ext cx="365760" cy="3657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788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멈추기 (롤백)</a:t>
            </a:r>
            <a:endParaRPr lang="en-US" sz="1400" dirty="0"/>
          </a:p>
        </p:txBody>
      </p:sp>
      <p:sp>
        <p:nvSpPr>
          <p:cNvPr id="16" name="badge4"/>
          <p:cNvSpPr/>
          <p:nvPr/>
        </p:nvSpPr>
        <p:spPr>
          <a:xfrm>
            <a:off x="4800600" y="329184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006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고치기</a:t>
            </a:r>
            <a:endParaRPr lang="en-US" sz="1400" dirty="0"/>
          </a:p>
        </p:txBody>
      </p:sp>
      <p:sp>
        <p:nvSpPr>
          <p:cNvPr id="19" name="badge5"/>
          <p:cNvSpPr/>
          <p:nvPr/>
        </p:nvSpPr>
        <p:spPr>
          <a:xfrm>
            <a:off x="4800600" y="379476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0060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돌아보기 (포스트모템)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작은 사이트도 공격당한다: 보안 기본 6가지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2단계 인증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비밀번호가 털려도 로그인 불가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최신 업데이트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알려진 구멍 막기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최소 권한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직원에겐 필요한 메뉴만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64008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퇴사자 계정 삭제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의외로 사고가 많은 곳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324612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342900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290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카드번호 저장 안 하기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결제는 PG사에 맡기기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603504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29" name="badge6"/>
          <p:cNvSpPr/>
          <p:nvPr/>
        </p:nvSpPr>
        <p:spPr>
          <a:xfrm>
            <a:off x="621792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79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다른 곳에 백업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랜섬웨어 대비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한국에서 쇼핑몰을 시작하는 순서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86868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사업자등록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홈택스</a:t>
            </a:r>
            <a:endParaRPr lang="en-US" sz="1100" dirty="0"/>
          </a:p>
        </p:txBody>
      </p:sp>
      <p:sp>
        <p:nvSpPr>
          <p:cNvPr id="7" name="badge2"/>
          <p:cNvSpPr/>
          <p:nvPr/>
        </p:nvSpPr>
        <p:spPr>
          <a:xfrm>
            <a:off x="2258568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258568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847088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통장·카드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47088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사업용</a:t>
            </a:r>
            <a:endParaRPr lang="en-US" sz="1100" dirty="0"/>
          </a:p>
        </p:txBody>
      </p:sp>
      <p:sp>
        <p:nvSpPr>
          <p:cNvPr id="11" name="badge3"/>
          <p:cNvSpPr/>
          <p:nvPr/>
        </p:nvSpPr>
        <p:spPr>
          <a:xfrm>
            <a:off x="3648456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4845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3697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PG + 에스크로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236976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결제 대행</a:t>
            </a:r>
            <a:endParaRPr lang="en-US" sz="1100" dirty="0"/>
          </a:p>
        </p:txBody>
      </p:sp>
      <p:sp>
        <p:nvSpPr>
          <p:cNvPr id="15" name="badge4"/>
          <p:cNvSpPr/>
          <p:nvPr/>
        </p:nvSpPr>
        <p:spPr>
          <a:xfrm>
            <a:off x="5038344" y="13258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38344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26864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통신판매업 신고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626864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정부24·구청</a:t>
            </a:r>
            <a:endParaRPr lang="en-US" sz="1100" dirty="0"/>
          </a:p>
        </p:txBody>
      </p:sp>
      <p:sp>
        <p:nvSpPr>
          <p:cNvPr id="19" name="badge5"/>
          <p:cNvSpPr/>
          <p:nvPr/>
        </p:nvSpPr>
        <p:spPr>
          <a:xfrm>
            <a:off x="6428232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016752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사이트 표시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016752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사업자정보·약관·처리방침</a:t>
            </a:r>
            <a:endParaRPr lang="en-US" sz="1100" dirty="0"/>
          </a:p>
        </p:txBody>
      </p:sp>
      <p:sp>
        <p:nvSpPr>
          <p:cNvPr id="23" name="badge6"/>
          <p:cNvSpPr/>
          <p:nvPr/>
        </p:nvSpPr>
        <p:spPr>
          <a:xfrm>
            <a:off x="781812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영업·세금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0664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부가세·종소세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457200" y="3246120"/>
            <a:ext cx="82296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" y="3383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개인정보 5원칙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최소 수집 · 동의(마케팅은 따로) · 처리방침 공개 · 안전 보관 · 파기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법은 자주 바뀝니다. 시작 전 홈택스·정부24·개인정보보호위원회에서 재확인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매출 = 방문자 × 전환율 × 객단가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28016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전환율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7830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2%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6517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상품 보기 → 장바구니에서 가장 많이 빠진다 (4,000 → 800)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474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가장 많이 빠지는 단계부터 고친다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B2C와 B2B는 운영이 다르다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B2C (개인)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B2B (기업)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손님 수 · 금액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많고 작다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적고 크다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사기까지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몇 초 ~ 며칠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몇 주 ~ 몇 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결정하는 사람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본인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여러 명 (팀장·구매·보안)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결제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카드 즉시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세금계산서 · 연간 계약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SNS 광고 · 후기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 · 사례 · 세미나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운영 핵심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광고 효율 · 재구매 · CS 대량 처리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SLA · 온보딩 · 고객 성공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리듬: 언제 무엇을 점검하나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매일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주문·문의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모니터링 알림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어제 매출·광고비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256032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매주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백업 성공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데이터 내보내기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보안 업데이트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66344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매월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도메인·카드 만료일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안 쓰는 계정 정리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월 손익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76656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분기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복구 훈련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비밀번호 교체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약관 점검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전체 점검표는 docs/14-checklists.md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안전하게, 자주 반복하기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기획 → 백업 → 연습용 사이트에서 수정 → 확인 → 배포 → 감시 → 숫자 보기 → 다시 기획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다음 할 일: docs/13-practice-scenario.md 를 읽고 15장 퀴즈 풀기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efront">
  <a:themeElements>
    <a:clrScheme name="Storefront">
      <a:dk1>
        <a:srgbClr val="1B2B2E"/>
      </a:dk1>
      <a:lt1>
        <a:srgbClr val="FFFFFF"/>
      </a:lt1>
      <a:dk2>
        <a:srgbClr val="1F4E4A"/>
      </a:dk2>
      <a:lt2>
        <a:srgbClr val="EEF4F3"/>
      </a:lt2>
      <a:accent1>
        <a:srgbClr val="1F4E4A"/>
      </a:accent1>
      <a:accent2>
        <a:srgbClr val="F08A3E"/>
      </a:accent2>
      <a:accent3>
        <a:srgbClr val="2E9C8F"/>
      </a:accent3>
      <a:accent4>
        <a:srgbClr val="7A8C8E"/>
      </a:accent4>
      <a:accent5>
        <a:srgbClr val="D9534F"/>
      </a:accent5>
      <a:accent6>
        <a:srgbClr val="F4C95D"/>
      </a:accent6>
      <a:hlink>
        <a:srgbClr val="2E9C8F"/>
      </a:hlink>
      <a:folHlink>
        <a:srgbClr val="7A8C8E"/>
      </a:folHlink>
    </a:clrScheme>
    <a:fontScheme name="Storefron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인터넷 사업 101</dc:title>
  <dc:subject>PptxGenJS Presentation</dc:subject>
  <dc:creator>PptxGenJS</dc:creator>
  <cp:lastModifiedBy>PptxGenJS</cp:lastModifiedBy>
  <cp:revision>1</cp:revision>
  <dcterms:created xsi:type="dcterms:W3CDTF">2026-10-28T06:13:01Z</dcterms:created>
  <dcterms:modified xsi:type="dcterms:W3CDTF">2026-10-28T06:13:01Z</dcterms:modified>
</cp:coreProperties>
</file>