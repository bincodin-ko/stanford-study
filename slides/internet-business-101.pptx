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2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charts/chart3.xml" ContentType="application/vnd.openxmlformats-officedocument.drawingml.chart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10e2940f-c33a-d474-aa37-fa31966246c9}">
          <p14:sldIdLst>
            <p14:sldId id="256"/>
            <p14:sldId id="257"/>
          </p14:sldIdLst>
        </p14:section>
        <p14:section name="큰 그림" id="{d07508c2-be9a-d2d1-f51a-7dccbe0421ce}">
          <p14:sldIdLst>
            <p14:sldId id="258"/>
            <p14:sldId id="259"/>
            <p14:sldId id="260"/>
            <p14:sldId id="261"/>
            <p14:sldId id="262"/>
          </p14:sldIdLst>
        </p14:section>
        <p14:section name="만들기" id="{f7fc37d8-9336-246f-5dc1-b8165271ebd5}">
          <p14:sldIdLst>
            <p14:sldId id="263"/>
            <p14:sldId id="264"/>
          </p14:sldIdLst>
        </p14:section>
        <p14:section name="운영하기" id="{b92e6db4-1192-d4f6-f3cd-f30ad2a7ee03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키우기" id="{739c3264-c882-085d-bfe1-dc5a738132b0}">
          <p14:sldIdLst>
            <p14:sldId id="275"/>
            <p14:sldId id="276"/>
          </p14:sldIdLst>
        </p14:section>
        <p14:section name="실전" id="{4906123d-c906-4cb5-7674-cdf334ca36d3}">
          <p14:sldIdLst>
            <p14:sldId id="277"/>
          </p14:sldIdLst>
        </p14:section>
        <p14:section name="여러 가지 사이트 사업" id="{ffa65975-0998-bb64-9284-d47561e1ea04}">
          <p14:sldIdLst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더 넓은 분류" id="{eea227fe-7526-e5dc-dd1d-e6fae17eab13}">
          <p14:sldIdLst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문의·광고 받기" id="{2f74dd51-0644-9677-747c-d49b0f225536}">
          <p14:sldIdLst>
            <p14:sldId id="292"/>
            <p14:sldId id="293"/>
            <p14:sldId id="294"/>
            <p14:sldId id="295"/>
            <p14:sldId id="296"/>
            <p14:sldId id="2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B2E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B2E"/>
                </a:solidFill>
                <a:latin typeface="+mn-lt"/>
              </a:rPr>
              <a:t>1만 원짜리 간식 1개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금액(원)</c:v>
                </c:pt>
              </c:strCache>
            </c:strRef>
          </c:tx>
          <c:spPr>
            <a:solidFill>
              <a:srgbClr val="1F4E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B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E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A8C8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A8C8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A8C8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08A3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판매가</c:v>
                  </c:pt>
                  <c:pt idx="1">
                    <c:v>재료·포장</c:v>
                  </c:pt>
                  <c:pt idx="2">
                    <c:v>택배비</c:v>
                  </c:pt>
                  <c:pt idx="3">
                    <c:v>결제 수수료</c:v>
                  </c:pt>
                  <c:pt idx="4">
                    <c:v>남는 돈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10000</c:v>
                </c:pt>
                <c:pt idx="1">
                  <c:v>3500</c:v>
                </c:pt>
                <c:pt idx="2">
                  <c:v>3000</c:v>
                </c:pt>
                <c:pt idx="3">
                  <c:v>300</c:v>
                </c:pt>
                <c:pt idx="4">
                  <c:v>3200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B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5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B2E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B2E"/>
                </a:solidFill>
                <a:latin typeface="+mn-lt"/>
              </a:rPr>
              <a:t>퍼널: 단계마다 손님이 줄어든다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명</c:v>
                </c:pt>
              </c:strCache>
            </c:strRef>
          </c:tx>
          <c:spPr>
            <a:solidFill>
              <a:srgbClr val="1F4E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B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E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4E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08A3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4E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4E4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방문</c:v>
                  </c:pt>
                  <c:pt idx="1">
                    <c:v>상품 보기</c:v>
                  </c:pt>
                  <c:pt idx="2">
                    <c:v>장바구니</c:v>
                  </c:pt>
                  <c:pt idx="3">
                    <c:v>결제 시작</c:v>
                  </c:pt>
                  <c:pt idx="4">
                    <c:v>결제 완료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10000</c:v>
                </c:pt>
                <c:pt idx="1">
                  <c:v>4000</c:v>
                </c:pt>
                <c:pt idx="2">
                  <c:v>800</c:v>
                </c:pt>
                <c:pt idx="3">
                  <c:v>400</c:v>
                </c:pt>
                <c:pt idx="4">
                  <c:v>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B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5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B2E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B2E"/>
                </a:solidFill>
                <a:latin typeface="+mn-lt"/>
              </a:rPr>
              <a:t>월 1만 원 구독 서비스 (예시)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원</c:v>
                </c:pt>
              </c:strCache>
            </c:strRef>
          </c:tx>
          <c:spPr>
            <a:solidFill>
              <a:srgbClr val="1F4E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B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E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9C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534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구독료</c:v>
                  </c:pt>
                  <c:pt idx="1">
                    <c:v>적게 쓰는 손님 AI 비용</c:v>
                  </c:pt>
                  <c:pt idx="2">
                    <c:v>많이 쓰는 손님 AI 비용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10000</c:v>
                </c:pt>
                <c:pt idx="1">
                  <c:v>3000</c:v>
                </c:pt>
                <c:pt idx="2">
                  <c:v>15000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B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B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9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docs/ 폴더의 15장 글을 한 장씩 요약한 덱입니다.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인터넷 사업 101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사이트를 만들고, 고치고, 지키고, 키우는 법 — 입문부터 실전까지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이 덱의 흐름: 5단계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325880"/>
            <a:ext cx="1517904" cy="292608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4" name="badge1"/>
          <p:cNvSpPr/>
          <p:nvPr/>
        </p:nvSpPr>
        <p:spPr>
          <a:xfrm>
            <a:off x="1005840" y="155448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4884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큰 그림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651760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사업 종류 · 수익 모델 · 용어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9476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1–3장</a:t>
            </a:r>
            <a:endParaRPr lang="en-US" sz="1100" dirty="0"/>
          </a:p>
        </p:txBody>
      </p:sp>
      <p:sp>
        <p:nvSpPr>
          <p:cNvPr id="9" name="card"/>
          <p:cNvSpPr/>
          <p:nvPr/>
        </p:nvSpPr>
        <p:spPr>
          <a:xfrm>
            <a:off x="2121408" y="1325880"/>
            <a:ext cx="1517904" cy="292608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0" name="badge2"/>
          <p:cNvSpPr/>
          <p:nvPr/>
        </p:nvSpPr>
        <p:spPr>
          <a:xfrm>
            <a:off x="2670048" y="155448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670048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212848" y="214884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만들기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231136" y="2651760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기획 · 사이트 구조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212848" y="379476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4–5장</a:t>
            </a:r>
            <a:endParaRPr lang="en-US" sz="1100" dirty="0"/>
          </a:p>
        </p:txBody>
      </p:sp>
      <p:sp>
        <p:nvSpPr>
          <p:cNvPr id="15" name="card"/>
          <p:cNvSpPr/>
          <p:nvPr/>
        </p:nvSpPr>
        <p:spPr>
          <a:xfrm>
            <a:off x="3785616" y="1325880"/>
            <a:ext cx="1517904" cy="2926080"/>
          </a:xfrm>
          <a:prstGeom prst="roundRect">
            <a:avLst>
              <a:gd name="adj" fmla="val 4819"/>
            </a:avLst>
          </a:prstGeom>
          <a:solidFill>
            <a:schemeClr val="accent2"/>
          </a:solidFill>
          <a:ln/>
        </p:spPr>
      </p:sp>
      <p:sp>
        <p:nvSpPr>
          <p:cNvPr id="16" name="badge3"/>
          <p:cNvSpPr/>
          <p:nvPr/>
        </p:nvSpPr>
        <p:spPr>
          <a:xfrm>
            <a:off x="4334256" y="1554480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334256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877056" y="214884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운영하기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895344" y="2651760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환경 · 배포 · 백업 · 장애 · 법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877056" y="379476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6–10장</a:t>
            </a:r>
            <a:endParaRPr lang="en-US" sz="1100" dirty="0"/>
          </a:p>
        </p:txBody>
      </p:sp>
      <p:sp>
        <p:nvSpPr>
          <p:cNvPr id="21" name="card"/>
          <p:cNvSpPr/>
          <p:nvPr/>
        </p:nvSpPr>
        <p:spPr>
          <a:xfrm>
            <a:off x="5449824" y="1325880"/>
            <a:ext cx="1517904" cy="292608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22" name="badge4"/>
          <p:cNvSpPr/>
          <p:nvPr/>
        </p:nvSpPr>
        <p:spPr>
          <a:xfrm>
            <a:off x="5998464" y="155448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998464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541264" y="214884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키우기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559552" y="2651760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마케팅 · 데이터 · B2B/B2C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541264" y="379476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11–12장</a:t>
            </a:r>
            <a:endParaRPr lang="en-US" sz="1100" dirty="0"/>
          </a:p>
        </p:txBody>
      </p:sp>
      <p:sp>
        <p:nvSpPr>
          <p:cNvPr id="27" name="card"/>
          <p:cNvSpPr/>
          <p:nvPr/>
        </p:nvSpPr>
        <p:spPr>
          <a:xfrm>
            <a:off x="7114032" y="1325880"/>
            <a:ext cx="1517904" cy="292608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28" name="badge5"/>
          <p:cNvSpPr/>
          <p:nvPr/>
        </p:nvSpPr>
        <p:spPr>
          <a:xfrm>
            <a:off x="7662672" y="155448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662672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205472" y="214884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실전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223760" y="2651760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시뮬레이션 · 체크리스트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205472" y="379476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13–15장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6451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가운데 '운영하기'가 이 공부의 중심입니다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누가 누구에게 파는가: B · C · G</a:t>
            </a:r>
            <a:endParaRPr lang="en-US" sz="2800" dirty="0"/>
          </a:p>
        </p:txBody>
      </p:sp>
      <p:sp>
        <p:nvSpPr>
          <p:cNvPr id="3" name="letterB"/>
          <p:cNvSpPr/>
          <p:nvPr/>
        </p:nvSpPr>
        <p:spPr>
          <a:xfrm>
            <a:off x="457200" y="123444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B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325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기업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Business</a:t>
            </a:r>
            <a:endParaRPr lang="en-US" sz="1400" dirty="0"/>
          </a:p>
        </p:txBody>
      </p:sp>
      <p:sp>
        <p:nvSpPr>
          <p:cNvPr id="6" name="letterC"/>
          <p:cNvSpPr/>
          <p:nvPr/>
        </p:nvSpPr>
        <p:spPr>
          <a:xfrm>
            <a:off x="457200" y="228600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377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개인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Consumer</a:t>
            </a:r>
            <a:endParaRPr lang="en-US" sz="1400" dirty="0"/>
          </a:p>
        </p:txBody>
      </p:sp>
      <p:sp>
        <p:nvSpPr>
          <p:cNvPr id="9" name="letterG"/>
          <p:cNvSpPr/>
          <p:nvPr/>
        </p:nvSpPr>
        <p:spPr>
          <a:xfrm>
            <a:off x="457200" y="333756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3337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G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4290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정부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Government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3383280" y="123444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20440" y="13441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B2C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1371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기업 → 개인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17647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쇼핑몰, 넷플릭스</a:t>
            </a:r>
            <a:endParaRPr lang="en-US" sz="1200" dirty="0"/>
          </a:p>
        </p:txBody>
      </p:sp>
      <p:sp>
        <p:nvSpPr>
          <p:cNvPr id="16" name="card"/>
          <p:cNvSpPr/>
          <p:nvPr/>
        </p:nvSpPr>
        <p:spPr>
          <a:xfrm>
            <a:off x="6080760" y="123444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0" y="13441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B2B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1371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기업 → 기업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17647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슬랙, 회계 프로그램</a:t>
            </a:r>
            <a:endParaRPr lang="en-US" sz="1200" dirty="0"/>
          </a:p>
        </p:txBody>
      </p:sp>
      <p:sp>
        <p:nvSpPr>
          <p:cNvPr id="20" name="card"/>
          <p:cNvSpPr/>
          <p:nvPr/>
        </p:nvSpPr>
        <p:spPr>
          <a:xfrm>
            <a:off x="3383280" y="228600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520440" y="23957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C2C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2423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개인 → 개인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520440" y="281635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당근마켓</a:t>
            </a:r>
            <a:endParaRPr lang="en-US" sz="1200" dirty="0"/>
          </a:p>
        </p:txBody>
      </p:sp>
      <p:sp>
        <p:nvSpPr>
          <p:cNvPr id="24" name="card"/>
          <p:cNvSpPr/>
          <p:nvPr/>
        </p:nvSpPr>
        <p:spPr>
          <a:xfrm>
            <a:off x="6080760" y="228600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17920" y="23957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B2B2C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423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기업 → 기업 → 개인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281635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배달앱</a:t>
            </a:r>
            <a:endParaRPr lang="en-US" sz="1200" dirty="0"/>
          </a:p>
        </p:txBody>
      </p:sp>
      <p:sp>
        <p:nvSpPr>
          <p:cNvPr id="28" name="card"/>
          <p:cNvSpPr/>
          <p:nvPr/>
        </p:nvSpPr>
        <p:spPr>
          <a:xfrm>
            <a:off x="3383280" y="333756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520440" y="344728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D2C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4480560" y="3474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제조사 → 개인 직접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3520440" y="386791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브랜드 자사몰</a:t>
            </a:r>
            <a:endParaRPr lang="en-US" sz="1200" dirty="0"/>
          </a:p>
        </p:txBody>
      </p:sp>
      <p:sp>
        <p:nvSpPr>
          <p:cNvPr id="32" name="card"/>
          <p:cNvSpPr/>
          <p:nvPr/>
        </p:nvSpPr>
        <p:spPr>
          <a:xfrm>
            <a:off x="6080760" y="333756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217920" y="344728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B2G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3474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기업 → 정부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217920" y="386791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공공 입찰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6451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B2C는 '많이·싸게·빨리', B2B는 '적게·비싸게·꼼꼼히'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직접 파나, 장터를 깔아 주나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402336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4" name="head0"/>
          <p:cNvSpPr/>
          <p:nvPr/>
        </p:nvSpPr>
        <p:spPr>
          <a:xfrm>
            <a:off x="457200" y="123444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2344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직접 판매 (자사몰)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48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내 물건을 내가 판다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5176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돈: 판매가 − 원가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부담: 재고, 배송, 반품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예: 브랜드 자사몰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663440" y="1234440"/>
            <a:ext cx="402336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9" name="head1"/>
          <p:cNvSpPr/>
          <p:nvPr/>
        </p:nvSpPr>
        <p:spPr>
          <a:xfrm>
            <a:off x="4663440" y="123444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92040" y="12344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플랫폼 (마켓플레이스)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2148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남의 물건이 팔리는 장터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265176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돈: 거래액의 몇 % 수수료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숙제: 판매자와 손님을 동시에 모으기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예: 에어비앤비, 크몽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돈 버는 방법 4대장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1920240" cy="23774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4" name="badge1"/>
          <p:cNvSpPr/>
          <p:nvPr/>
        </p:nvSpPr>
        <p:spPr>
          <a:xfrm>
            <a:off x="640080" y="14630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판매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146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물건을 팔고 차익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154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쇼핑몰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2560320" y="1280160"/>
            <a:ext cx="1920240" cy="23774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0" name="badge2"/>
          <p:cNvSpPr/>
          <p:nvPr/>
        </p:nvSpPr>
        <p:spPr>
          <a:xfrm>
            <a:off x="2743200" y="14630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4320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011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구독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25146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매달 정기 결제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3154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넷플릭스, SaaS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4663440" y="1280160"/>
            <a:ext cx="1920240" cy="23774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6" name="badge3"/>
          <p:cNvSpPr/>
          <p:nvPr/>
        </p:nvSpPr>
        <p:spPr>
          <a:xfrm>
            <a:off x="4846320" y="14630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4632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011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수수료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5146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거래마다 몇 % 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3154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배달앱, 에어비앤비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6766560" y="1280160"/>
            <a:ext cx="1920240" cy="23774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22" name="badge4"/>
          <p:cNvSpPr/>
          <p:nvPr/>
        </p:nvSpPr>
        <p:spPr>
          <a:xfrm>
            <a:off x="6949440" y="14630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94944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2011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광고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25146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방문자에게 광고 노출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3154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블로그, 유튜브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그 밖에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프리미엄(기본 무료) · 사용량 과금 · 리드 판매 · 제휴 마케팅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매출보다 '1개 팔 때 남는 돈'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9728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"/>
          <p:cNvSpPr/>
          <p:nvPr/>
        </p:nvSpPr>
        <p:spPr>
          <a:xfrm>
            <a:off x="5760720" y="1280160"/>
            <a:ext cx="2926080" cy="30175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94360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광고로 손님 1명 데려오는 데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1828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5,000원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2606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이 들면, 첫 구매만으로는 1,800원 손해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3383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→ 재구매와 객단가 올리기가 중요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먼저 외울 용어 12개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1938528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MVP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6420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핵심만 넣은 첫 버전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2542032" y="1188720"/>
            <a:ext cx="1938528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679192" y="12801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KPI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2679192" y="166420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잘하고 있나 판단하는 숫자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4626864" y="1188720"/>
            <a:ext cx="1938528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64024" y="12801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전환율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764024" y="166420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방문자 중 구매 비율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6711696" y="1188720"/>
            <a:ext cx="1938528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48856" y="12801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객단가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848856" y="166420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주문 1건 평균 금액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457200" y="2286000"/>
            <a:ext cx="1938528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23774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CAC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27614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손님 1명 데려오는 비용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2542032" y="2286000"/>
            <a:ext cx="1938528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679192" y="23774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LTV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2679192" y="27614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손님 1명이 평생 내는 돈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4626864" y="2286000"/>
            <a:ext cx="1938528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64024" y="23774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Churn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764024" y="27614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구독 해지 비율</a:t>
            </a:r>
            <a:endParaRPr lang="en-US" sz="1200" dirty="0"/>
          </a:p>
        </p:txBody>
      </p:sp>
      <p:sp>
        <p:nvSpPr>
          <p:cNvPr id="24" name="card"/>
          <p:cNvSpPr/>
          <p:nvPr/>
        </p:nvSpPr>
        <p:spPr>
          <a:xfrm>
            <a:off x="6711696" y="2286000"/>
            <a:ext cx="1938528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48856" y="23774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MRR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848856" y="27614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매달 반복 매출</a:t>
            </a:r>
            <a:endParaRPr lang="en-US" sz="1200" dirty="0"/>
          </a:p>
        </p:txBody>
      </p:sp>
      <p:sp>
        <p:nvSpPr>
          <p:cNvPr id="27" name="card"/>
          <p:cNvSpPr/>
          <p:nvPr/>
        </p:nvSpPr>
        <p:spPr>
          <a:xfrm>
            <a:off x="457200" y="3383280"/>
            <a:ext cx="1938528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94360" y="3474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ROAS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594360" y="385876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광고비 1원당 매출</a:t>
            </a:r>
            <a:endParaRPr lang="en-US" sz="1200" dirty="0"/>
          </a:p>
        </p:txBody>
      </p:sp>
      <p:sp>
        <p:nvSpPr>
          <p:cNvPr id="30" name="card"/>
          <p:cNvSpPr/>
          <p:nvPr/>
        </p:nvSpPr>
        <p:spPr>
          <a:xfrm>
            <a:off x="2542032" y="3383280"/>
            <a:ext cx="1938528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679192" y="3474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SEO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2679192" y="385876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검색에 잘 뜨게 하기</a:t>
            </a:r>
            <a:endParaRPr lang="en-US" sz="1200" dirty="0"/>
          </a:p>
        </p:txBody>
      </p:sp>
      <p:sp>
        <p:nvSpPr>
          <p:cNvPr id="33" name="card"/>
          <p:cNvSpPr/>
          <p:nvPr/>
        </p:nvSpPr>
        <p:spPr>
          <a:xfrm>
            <a:off x="4626864" y="3383280"/>
            <a:ext cx="1938528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764024" y="3474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배포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4764024" y="385876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고친 걸 실제 사이트에 반영</a:t>
            </a:r>
            <a:endParaRPr lang="en-US" sz="1200" dirty="0"/>
          </a:p>
        </p:txBody>
      </p:sp>
      <p:sp>
        <p:nvSpPr>
          <p:cNvPr id="36" name="card"/>
          <p:cNvSpPr/>
          <p:nvPr/>
        </p:nvSpPr>
        <p:spPr>
          <a:xfrm>
            <a:off x="6711696" y="3383280"/>
            <a:ext cx="1938528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848856" y="3474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롤백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6848856" y="385876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이전 버전으로 되돌리기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46451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전체 목록은 docs/03-glossary.md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기획에서 출시까지, 그리고 반복</a:t>
            </a:r>
            <a:endParaRPr lang="en-US" sz="2800" dirty="0"/>
          </a:p>
        </p:txBody>
      </p:sp>
      <p:sp>
        <p:nvSpPr>
          <p:cNvPr id="3" name="badge1"/>
          <p:cNvSpPr/>
          <p:nvPr/>
        </p:nvSpPr>
        <p:spPr>
          <a:xfrm>
            <a:off x="658368" y="155448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38912" y="2148840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문제 확인</a:t>
            </a:r>
            <a:endParaRPr lang="en-US" sz="1200" dirty="0"/>
          </a:p>
        </p:txBody>
      </p:sp>
      <p:sp>
        <p:nvSpPr>
          <p:cNvPr id="6" name="arrow0"/>
          <p:cNvSpPr/>
          <p:nvPr/>
        </p:nvSpPr>
        <p:spPr>
          <a:xfrm>
            <a:off x="1133856" y="1783080"/>
            <a:ext cx="420624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7" name="badge2"/>
          <p:cNvSpPr/>
          <p:nvPr/>
        </p:nvSpPr>
        <p:spPr>
          <a:xfrm>
            <a:off x="1572768" y="155448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57276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148840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손님 정의</a:t>
            </a:r>
            <a:endParaRPr lang="en-US" sz="1200" dirty="0"/>
          </a:p>
        </p:txBody>
      </p:sp>
      <p:sp>
        <p:nvSpPr>
          <p:cNvPr id="10" name="arrow1"/>
          <p:cNvSpPr/>
          <p:nvPr/>
        </p:nvSpPr>
        <p:spPr>
          <a:xfrm>
            <a:off x="2048256" y="1783080"/>
            <a:ext cx="420624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11" name="badge3"/>
          <p:cNvSpPr/>
          <p:nvPr/>
        </p:nvSpPr>
        <p:spPr>
          <a:xfrm>
            <a:off x="2487168" y="15544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48716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267712" y="2148840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기능 목록</a:t>
            </a:r>
            <a:endParaRPr lang="en-US" sz="1200" dirty="0"/>
          </a:p>
        </p:txBody>
      </p:sp>
      <p:sp>
        <p:nvSpPr>
          <p:cNvPr id="14" name="arrow2"/>
          <p:cNvSpPr/>
          <p:nvPr/>
        </p:nvSpPr>
        <p:spPr>
          <a:xfrm>
            <a:off x="2962656" y="1783080"/>
            <a:ext cx="420624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15" name="badge4"/>
          <p:cNvSpPr/>
          <p:nvPr/>
        </p:nvSpPr>
        <p:spPr>
          <a:xfrm>
            <a:off x="3401568" y="155448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40156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182112" y="2148840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화면 설계</a:t>
            </a:r>
            <a:endParaRPr lang="en-US" sz="1200" dirty="0"/>
          </a:p>
        </p:txBody>
      </p:sp>
      <p:sp>
        <p:nvSpPr>
          <p:cNvPr id="18" name="arrow3"/>
          <p:cNvSpPr/>
          <p:nvPr/>
        </p:nvSpPr>
        <p:spPr>
          <a:xfrm>
            <a:off x="3877056" y="1783080"/>
            <a:ext cx="420624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19" name="badge5"/>
          <p:cNvSpPr/>
          <p:nvPr/>
        </p:nvSpPr>
        <p:spPr>
          <a:xfrm>
            <a:off x="4315968" y="155448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31596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096512" y="2148840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디자인</a:t>
            </a:r>
            <a:endParaRPr lang="en-US" sz="1200" dirty="0"/>
          </a:p>
        </p:txBody>
      </p:sp>
      <p:sp>
        <p:nvSpPr>
          <p:cNvPr id="22" name="arrow4"/>
          <p:cNvSpPr/>
          <p:nvPr/>
        </p:nvSpPr>
        <p:spPr>
          <a:xfrm>
            <a:off x="4791456" y="1783080"/>
            <a:ext cx="420624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23" name="badge6"/>
          <p:cNvSpPr/>
          <p:nvPr/>
        </p:nvSpPr>
        <p:spPr>
          <a:xfrm>
            <a:off x="5230368" y="155448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23036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010912" y="2148840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개발</a:t>
            </a:r>
            <a:endParaRPr lang="en-US" sz="1200" dirty="0"/>
          </a:p>
        </p:txBody>
      </p:sp>
      <p:sp>
        <p:nvSpPr>
          <p:cNvPr id="26" name="arrow5"/>
          <p:cNvSpPr/>
          <p:nvPr/>
        </p:nvSpPr>
        <p:spPr>
          <a:xfrm>
            <a:off x="5705856" y="1783080"/>
            <a:ext cx="420624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27" name="badge7"/>
          <p:cNvSpPr/>
          <p:nvPr/>
        </p:nvSpPr>
        <p:spPr>
          <a:xfrm>
            <a:off x="6144768" y="155448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14476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925312" y="2148840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테스트</a:t>
            </a:r>
            <a:endParaRPr lang="en-US" sz="1200" dirty="0"/>
          </a:p>
        </p:txBody>
      </p:sp>
      <p:sp>
        <p:nvSpPr>
          <p:cNvPr id="30" name="arrow6"/>
          <p:cNvSpPr/>
          <p:nvPr/>
        </p:nvSpPr>
        <p:spPr>
          <a:xfrm>
            <a:off x="6620256" y="1783080"/>
            <a:ext cx="420624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31" name="badge8"/>
          <p:cNvSpPr/>
          <p:nvPr/>
        </p:nvSpPr>
        <p:spPr>
          <a:xfrm>
            <a:off x="7059168" y="155448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05916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839712" y="2148840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출시</a:t>
            </a:r>
            <a:endParaRPr lang="en-US" sz="1200" dirty="0"/>
          </a:p>
        </p:txBody>
      </p:sp>
      <p:sp>
        <p:nvSpPr>
          <p:cNvPr id="34" name="arrow7"/>
          <p:cNvSpPr/>
          <p:nvPr/>
        </p:nvSpPr>
        <p:spPr>
          <a:xfrm>
            <a:off x="7534656" y="1783080"/>
            <a:ext cx="420624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35" name="badge9"/>
          <p:cNvSpPr/>
          <p:nvPr/>
        </p:nvSpPr>
        <p:spPr>
          <a:xfrm>
            <a:off x="7973568" y="155448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97356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9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7754112" y="2148840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측정·개선</a:t>
            </a:r>
            <a:endParaRPr lang="en-US" sz="1200" dirty="0"/>
          </a:p>
        </p:txBody>
      </p:sp>
      <p:sp>
        <p:nvSpPr>
          <p:cNvPr id="38" name="loop"/>
          <p:cNvSpPr/>
          <p:nvPr/>
        </p:nvSpPr>
        <p:spPr>
          <a:xfrm>
            <a:off x="2286000" y="2971800"/>
            <a:ext cx="594360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2377440" y="29718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⑨ 측정 결과를 보고 ③ 기능 목록으로 돌아가 다시 고친다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3703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첫 출시는 Must 기능만 (MVP)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쇼핑몰이면: 상품 보기 · 장바구니 · 결제 · 주문 확인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사이트는 세 덩어리, 지키는 방법도 셋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60604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4" name="badge1"/>
          <p:cNvSpPr/>
          <p:nvPr/>
        </p:nvSpPr>
        <p:spPr>
          <a:xfrm>
            <a:off x="640080" y="137160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371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코드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화면, 프로그램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내가 고칠 때만 바뀜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→ Git (버전 관리)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3246120" y="1188720"/>
            <a:ext cx="260604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11" name="badge2"/>
          <p:cNvSpPr/>
          <p:nvPr/>
        </p:nvSpPr>
        <p:spPr>
          <a:xfrm>
            <a:off x="3429000" y="137160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290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1371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데이터(DB)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회원, 주문, 결제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매초 바뀜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→ DB 자동 백업</a:t>
            </a:r>
            <a:endParaRPr lang="en-US" sz="1500" dirty="0"/>
          </a:p>
        </p:txBody>
      </p:sp>
      <p:sp>
        <p:nvSpPr>
          <p:cNvPr id="17" name="card"/>
          <p:cNvSpPr/>
          <p:nvPr/>
        </p:nvSpPr>
        <p:spPr>
          <a:xfrm>
            <a:off x="6035040" y="1188720"/>
            <a:ext cx="260604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18" name="badge3"/>
          <p:cNvSpPr/>
          <p:nvPr/>
        </p:nvSpPr>
        <p:spPr>
          <a:xfrm>
            <a:off x="6217920" y="137160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1371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파일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상품 사진, 첨부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상품 올릴 때 바뀜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→ 저장소 백업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폴더를 통째로 복사해도 주문·회원 정보(DB)는 빠져 있는 경우가 많다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'백업 폴더 만들어서 고치나요?'에 대한 답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329184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초보자 방식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myshop/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myshop_backup/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myshop_최종/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myshop_최종_진짜최종/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myshop_최종_진짜최종_수정2/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520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무엇이 바뀌었는지 모르고, DB는 빠져 있음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23774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→</a:t>
            </a:r>
            <a:endParaRPr lang="en-US" sz="3000" dirty="0"/>
          </a:p>
        </p:txBody>
      </p:sp>
      <p:sp>
        <p:nvSpPr>
          <p:cNvPr id="8" name="card"/>
          <p:cNvSpPr/>
          <p:nvPr/>
        </p:nvSpPr>
        <p:spPr>
          <a:xfrm>
            <a:off x="4389120" y="1188720"/>
            <a:ext cx="429768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현업 방식</a:t>
            </a:r>
            <a:endParaRPr lang="en-US" sz="1600" dirty="0"/>
          </a:p>
        </p:txBody>
      </p:sp>
      <p:sp>
        <p:nvSpPr>
          <p:cNvPr id="10" name="badge1"/>
          <p:cNvSpPr/>
          <p:nvPr/>
        </p:nvSpPr>
        <p:spPr>
          <a:xfrm>
            <a:off x="4617720" y="182880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17830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환경을 나눈다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연습용 사이트(스테이징)에서 먼저 고친다</a:t>
            </a:r>
            <a:endParaRPr lang="en-US" sz="1500" dirty="0"/>
          </a:p>
        </p:txBody>
      </p:sp>
      <p:sp>
        <p:nvSpPr>
          <p:cNvPr id="13" name="badge2"/>
          <p:cNvSpPr/>
          <p:nvPr/>
        </p:nvSpPr>
        <p:spPr>
          <a:xfrm>
            <a:off x="4617720" y="265176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1772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60604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Git으로 기록한다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모든 변경을 저장, 언제든 되돌린다</a:t>
            </a:r>
            <a:endParaRPr lang="en-US" sz="1500" dirty="0"/>
          </a:p>
        </p:txBody>
      </p:sp>
      <p:sp>
        <p:nvSpPr>
          <p:cNvPr id="16" name="badge3"/>
          <p:cNvSpPr/>
          <p:nvPr/>
        </p:nvSpPr>
        <p:spPr>
          <a:xfrm>
            <a:off x="4617720" y="34747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61772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42900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DB는 따로 백업한다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손님 데이터는 자동 백업으로 지킨다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환경 3개: 운영 사이트는 직접 고치지 않는다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251460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로컬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연습장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23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나만 봄. 마음껏 고치고 부수기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971800" y="2011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card"/>
          <p:cNvSpPr/>
          <p:nvPr/>
        </p:nvSpPr>
        <p:spPr>
          <a:xfrm>
            <a:off x="3337560" y="1280160"/>
            <a:ext cx="251460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2044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스테이징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리허설 무대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423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운영과 똑같이. 최종 확인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2011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card"/>
          <p:cNvSpPr/>
          <p:nvPr/>
        </p:nvSpPr>
        <p:spPr>
          <a:xfrm>
            <a:off x="6217920" y="1280160"/>
            <a:ext cx="251460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운영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실제 무대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423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진짜 손님. 직접 수정 금지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611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빌더(카페24·아임웹)라면?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기존 디자인 스킨을 복사 → 복사본에서 수정 → 확인 후 '대표 디자인으로 적용' = 같은 개념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Git은 게임 세이브와 같다</a:t>
            </a:r>
            <a:endParaRPr lang="en-US" sz="2800" dirty="0"/>
          </a:p>
        </p:txBody>
      </p:sp>
      <p:sp>
        <p:nvSpPr>
          <p:cNvPr id="3" name="badge1"/>
          <p:cNvSpPr/>
          <p:nvPr/>
        </p:nvSpPr>
        <p:spPr>
          <a:xfrm>
            <a:off x="457200" y="125272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188720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커밋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1188720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세이브 포인트에 저장</a:t>
            </a:r>
            <a:endParaRPr lang="en-US" sz="1300" dirty="0"/>
          </a:p>
        </p:txBody>
      </p:sp>
      <p:sp>
        <p:nvSpPr>
          <p:cNvPr id="7" name="badge2"/>
          <p:cNvSpPr/>
          <p:nvPr/>
        </p:nvSpPr>
        <p:spPr>
          <a:xfrm>
            <a:off x="457200" y="191109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84708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브랜치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184708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세이브를 복사해 다른 선택지 시험</a:t>
            </a:r>
            <a:endParaRPr lang="en-US" sz="1300" dirty="0"/>
          </a:p>
        </p:txBody>
      </p:sp>
      <p:sp>
        <p:nvSpPr>
          <p:cNvPr id="11" name="badge3"/>
          <p:cNvSpPr/>
          <p:nvPr/>
        </p:nvSpPr>
        <p:spPr>
          <a:xfrm>
            <a:off x="457200" y="256946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2569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505456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머지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286000" y="2505456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좋은 선택지를 본 세이브에 합치기</a:t>
            </a:r>
            <a:endParaRPr lang="en-US" sz="1300" dirty="0"/>
          </a:p>
        </p:txBody>
      </p:sp>
      <p:sp>
        <p:nvSpPr>
          <p:cNvPr id="15" name="badge4"/>
          <p:cNvSpPr/>
          <p:nvPr/>
        </p:nvSpPr>
        <p:spPr>
          <a:xfrm>
            <a:off x="457200" y="3227832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163824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되돌리기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286000" y="3163824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이전 세이브 포인트로 돌아가기</a:t>
            </a:r>
            <a:endParaRPr lang="en-US" sz="1300" dirty="0"/>
          </a:p>
        </p:txBody>
      </p:sp>
      <p:sp>
        <p:nvSpPr>
          <p:cNvPr id="19" name="badge5"/>
          <p:cNvSpPr/>
          <p:nvPr/>
        </p:nvSpPr>
        <p:spPr>
          <a:xfrm>
            <a:off x="457200" y="388620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3822192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GitHub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2286000" y="3822192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세이브를 인터넷 금고에 보관</a:t>
            </a:r>
            <a:endParaRPr lang="en-US" sz="1300" dirty="0"/>
          </a:p>
        </p:txBody>
      </p:sp>
      <p:sp>
        <p:nvSpPr>
          <p:cNvPr id="23" name="card"/>
          <p:cNvSpPr/>
          <p:nvPr/>
        </p:nvSpPr>
        <p:spPr>
          <a:xfrm>
            <a:off x="5120640" y="1188720"/>
            <a:ext cx="356616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349240" y="1325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흔한 작업 순서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349240" y="178308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main에서 브랜치 만들기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브랜치에서 고치고 커밋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스테이징에서 확인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main에 머지 → 배포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문제 시 이전 커밋으로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업데이트(배포) 표준 절차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1078992" cy="1554480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/>
        </p:spPr>
      </p:sp>
      <p:sp>
        <p:nvSpPr>
          <p:cNvPr id="4" name="badge1"/>
          <p:cNvSpPr/>
          <p:nvPr/>
        </p:nvSpPr>
        <p:spPr>
          <a:xfrm>
            <a:off x="804672" y="14173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920240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기록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28600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무엇을 왜</a:t>
            </a:r>
            <a:endParaRPr lang="en-US" sz="1100" dirty="0"/>
          </a:p>
        </p:txBody>
      </p:sp>
      <p:sp>
        <p:nvSpPr>
          <p:cNvPr id="8" name="card"/>
          <p:cNvSpPr/>
          <p:nvPr/>
        </p:nvSpPr>
        <p:spPr>
          <a:xfrm>
            <a:off x="1645920" y="1280160"/>
            <a:ext cx="1078992" cy="1554480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/>
        </p:spPr>
      </p:sp>
      <p:sp>
        <p:nvSpPr>
          <p:cNvPr id="9" name="badge2"/>
          <p:cNvSpPr/>
          <p:nvPr/>
        </p:nvSpPr>
        <p:spPr>
          <a:xfrm>
            <a:off x="1993392" y="14173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993392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1920240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백업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228600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DB + 현재 버전</a:t>
            </a:r>
            <a:endParaRPr lang="en-US" sz="1100" dirty="0"/>
          </a:p>
        </p:txBody>
      </p:sp>
      <p:sp>
        <p:nvSpPr>
          <p:cNvPr id="13" name="card"/>
          <p:cNvSpPr/>
          <p:nvPr/>
        </p:nvSpPr>
        <p:spPr>
          <a:xfrm>
            <a:off x="2834640" y="1280160"/>
            <a:ext cx="1078992" cy="1554480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/>
        </p:spPr>
      </p:sp>
      <p:sp>
        <p:nvSpPr>
          <p:cNvPr id="14" name="badge3"/>
          <p:cNvSpPr/>
          <p:nvPr/>
        </p:nvSpPr>
        <p:spPr>
          <a:xfrm>
            <a:off x="3182112" y="14173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182112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880360" y="1920240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스테이징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880360" y="228600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핵심 흐름 확인</a:t>
            </a:r>
            <a:endParaRPr lang="en-US" sz="1100" dirty="0"/>
          </a:p>
        </p:txBody>
      </p:sp>
      <p:sp>
        <p:nvSpPr>
          <p:cNvPr id="18" name="card"/>
          <p:cNvSpPr/>
          <p:nvPr/>
        </p:nvSpPr>
        <p:spPr>
          <a:xfrm>
            <a:off x="4023360" y="1280160"/>
            <a:ext cx="1078992" cy="1554480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/>
        </p:spPr>
      </p:sp>
      <p:sp>
        <p:nvSpPr>
          <p:cNvPr id="19" name="badge4"/>
          <p:cNvSpPr/>
          <p:nvPr/>
        </p:nvSpPr>
        <p:spPr>
          <a:xfrm>
            <a:off x="4370832" y="14173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370832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069080" y="1920240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시간 고르기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069080" y="228600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손님 적을 때</a:t>
            </a:r>
            <a:endParaRPr lang="en-US" sz="1100" dirty="0"/>
          </a:p>
        </p:txBody>
      </p:sp>
      <p:sp>
        <p:nvSpPr>
          <p:cNvPr id="23" name="card"/>
          <p:cNvSpPr/>
          <p:nvPr/>
        </p:nvSpPr>
        <p:spPr>
          <a:xfrm>
            <a:off x="5212080" y="1280160"/>
            <a:ext cx="1078992" cy="1554480"/>
          </a:xfrm>
          <a:prstGeom prst="roundRect">
            <a:avLst>
              <a:gd name="adj" fmla="val 6780"/>
            </a:avLst>
          </a:prstGeom>
          <a:solidFill>
            <a:schemeClr val="accent2"/>
          </a:solidFill>
          <a:ln/>
        </p:spPr>
      </p:sp>
      <p:sp>
        <p:nvSpPr>
          <p:cNvPr id="24" name="badge5"/>
          <p:cNvSpPr/>
          <p:nvPr/>
        </p:nvSpPr>
        <p:spPr>
          <a:xfrm>
            <a:off x="5559552" y="141732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559552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1920240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배포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257800" y="228600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8" name="card"/>
          <p:cNvSpPr/>
          <p:nvPr/>
        </p:nvSpPr>
        <p:spPr>
          <a:xfrm>
            <a:off x="6400800" y="1280160"/>
            <a:ext cx="1078992" cy="1554480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/>
        </p:spPr>
      </p:sp>
      <p:sp>
        <p:nvSpPr>
          <p:cNvPr id="29" name="badge6"/>
          <p:cNvSpPr/>
          <p:nvPr/>
        </p:nvSpPr>
        <p:spPr>
          <a:xfrm>
            <a:off x="6748272" y="14173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748272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446520" y="1920240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확인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446520" y="228600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10–30분 감시</a:t>
            </a:r>
            <a:endParaRPr lang="en-US" sz="1100" dirty="0"/>
          </a:p>
        </p:txBody>
      </p:sp>
      <p:sp>
        <p:nvSpPr>
          <p:cNvPr id="33" name="card"/>
          <p:cNvSpPr/>
          <p:nvPr/>
        </p:nvSpPr>
        <p:spPr>
          <a:xfrm>
            <a:off x="7589520" y="1280160"/>
            <a:ext cx="1078992" cy="1554480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/>
        </p:spPr>
      </p:sp>
      <p:sp>
        <p:nvSpPr>
          <p:cNvPr id="34" name="badge7"/>
          <p:cNvSpPr/>
          <p:nvPr/>
        </p:nvSpPr>
        <p:spPr>
          <a:xfrm>
            <a:off x="7936992" y="14173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936992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635240" y="1920240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기록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7635240" y="228600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릴리스 노트</a:t>
            </a:r>
            <a:endParaRPr lang="en-US" sz="1100" dirty="0"/>
          </a:p>
        </p:txBody>
      </p:sp>
      <p:sp>
        <p:nvSpPr>
          <p:cNvPr id="38" name="card"/>
          <p:cNvSpPr/>
          <p:nvPr/>
        </p:nvSpPr>
        <p:spPr>
          <a:xfrm>
            <a:off x="457200" y="3154680"/>
            <a:ext cx="822960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먼저 되돌리고, 나중에 고친다</a:t>
            </a:r>
            <a:endParaRPr lang="en-US" sz="2200" dirty="0"/>
          </a:p>
        </p:txBody>
      </p:sp>
      <p:sp>
        <p:nvSpPr>
          <p:cNvPr id="40" name="Text 38"/>
          <p:cNvSpPr txBox="1"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배포 후 문제가 생기면 원인부터 찾지 말고 롤백. 금요일 저녁·이벤트 직전 배포는 피하기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손님 몰래 바꾸는 3가지 기술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606040" cy="32004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블루-그린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무대 두 개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새 버전을 옆에 띄우고 손님 입구만 바꿈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5661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되돌리기: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입구를 원래대로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3246120" y="1188720"/>
            <a:ext cx="2606040" cy="32004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29000" y="1371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카나리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828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조금씩 공개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2860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손님 1% → 10% → 100% 순서로 보여 줌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35661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되돌리기: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비율을 0%로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6035040" y="1188720"/>
            <a:ext cx="2606040" cy="32004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1371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기능 플래그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1828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전등 스위치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2860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기능을 미리 배포해 두고 스위치로 켬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35661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되돌리기: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스위치 끄기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백업의 기본 공식: 3-2-1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6060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2"/>
                </a:solidFill>
              </a:rPr>
              <a:t>3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231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개의 복사본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80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원본 + 백업 2개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3246120" y="1188720"/>
            <a:ext cx="26060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29000" y="12801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2"/>
                </a:solidFill>
              </a:rPr>
              <a:t>2</a:t>
            </a:r>
            <a:endParaRPr lang="en-US" sz="6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4231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가지 저장 장치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880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한 장치가 고장 나도 안전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6035040" y="1188720"/>
            <a:ext cx="26060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0" y="12801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2"/>
                </a:solidFill>
              </a:rPr>
              <a:t>1</a:t>
            </a:r>
            <a:endParaRPr lang="en-US" sz="66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24231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개는 다른 장소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880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해킹·화재에도 살아남게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복구해 봐야 진짜 백업.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분기마다 백업을 연습용 사이트에 되살려 보고 걸린 시간을 잰다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얼마나 잃어도 되나: RPO와 RTO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RPO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11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몇 시간 치 데이터를 잃어도 되나?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14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줄이려면 → 백업을 더 자주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4663440" y="1188720"/>
            <a:ext cx="40233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92040" y="13258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RTO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2011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몇 시간 안에 다시 살려야 하나?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514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줄이려면 → 복구 절차 문서화·연습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83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사이트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RPO 예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RTO 예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블로그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1일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1일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쇼핑몰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1시간 이하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몇 시간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B2B SaaS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계약(SLA)대로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계약(SLA)대로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모니터링과 장애 대응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자동으로 지켜볼 것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사이트가 살아 있나 (1–5분마다)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오류가 늘었나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느려졌나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서버가 힘든가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주문이 너무 적지 않나 ← 의외로 중요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4572000" y="1188720"/>
            <a:ext cx="411480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80060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장애가 나면 5단계</a:t>
            </a:r>
            <a:endParaRPr lang="en-US" sz="1600" dirty="0"/>
          </a:p>
        </p:txBody>
      </p:sp>
      <p:sp>
        <p:nvSpPr>
          <p:cNvPr id="7" name="badge1"/>
          <p:cNvSpPr/>
          <p:nvPr/>
        </p:nvSpPr>
        <p:spPr>
          <a:xfrm>
            <a:off x="4800600" y="178308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0060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30352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알아채기</a:t>
            </a:r>
            <a:endParaRPr lang="en-US" sz="1400" dirty="0"/>
          </a:p>
        </p:txBody>
      </p:sp>
      <p:sp>
        <p:nvSpPr>
          <p:cNvPr id="10" name="badge2"/>
          <p:cNvSpPr/>
          <p:nvPr/>
        </p:nvSpPr>
        <p:spPr>
          <a:xfrm>
            <a:off x="4800600" y="22860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0060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알리기 (공지)</a:t>
            </a:r>
            <a:endParaRPr lang="en-US" sz="1400" dirty="0"/>
          </a:p>
        </p:txBody>
      </p:sp>
      <p:sp>
        <p:nvSpPr>
          <p:cNvPr id="13" name="badge3"/>
          <p:cNvSpPr/>
          <p:nvPr/>
        </p:nvSpPr>
        <p:spPr>
          <a:xfrm>
            <a:off x="4800600" y="2788920"/>
            <a:ext cx="365760" cy="36576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0060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2788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멈추기 (롤백)</a:t>
            </a:r>
            <a:endParaRPr lang="en-US" sz="1400" dirty="0"/>
          </a:p>
        </p:txBody>
      </p:sp>
      <p:sp>
        <p:nvSpPr>
          <p:cNvPr id="16" name="badge4"/>
          <p:cNvSpPr/>
          <p:nvPr/>
        </p:nvSpPr>
        <p:spPr>
          <a:xfrm>
            <a:off x="4800600" y="329184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0060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3291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고치기</a:t>
            </a:r>
            <a:endParaRPr lang="en-US" sz="1400" dirty="0"/>
          </a:p>
        </p:txBody>
      </p:sp>
      <p:sp>
        <p:nvSpPr>
          <p:cNvPr id="19" name="badge5"/>
          <p:cNvSpPr/>
          <p:nvPr/>
        </p:nvSpPr>
        <p:spPr>
          <a:xfrm>
            <a:off x="4800600" y="379476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0060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3794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돌아보기 (포스트모템)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작은 사이트도 공격당한다: 보안 기본 6가지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4" name="badge1"/>
          <p:cNvSpPr/>
          <p:nvPr/>
        </p:nvSpPr>
        <p:spPr>
          <a:xfrm>
            <a:off x="640080" y="137160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371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2단계 인증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20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비밀번호가 털려도 로그인 불가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3246120" y="118872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9" name="badge2"/>
          <p:cNvSpPr/>
          <p:nvPr/>
        </p:nvSpPr>
        <p:spPr>
          <a:xfrm>
            <a:off x="3429000" y="137160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371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최신 업데이트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920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알려진 구멍 막기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6035040" y="118872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4" name="badge3"/>
          <p:cNvSpPr/>
          <p:nvPr/>
        </p:nvSpPr>
        <p:spPr>
          <a:xfrm>
            <a:off x="6217920" y="137160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1371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최소 권한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920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직원에겐 필요한 메뉴만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457200" y="278892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9" name="badge4"/>
          <p:cNvSpPr/>
          <p:nvPr/>
        </p:nvSpPr>
        <p:spPr>
          <a:xfrm>
            <a:off x="640080" y="297180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71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퇴사자 계정 삭제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520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의외로 사고가 많은 곳</a:t>
            </a:r>
            <a:endParaRPr lang="en-US" sz="1300" dirty="0"/>
          </a:p>
        </p:txBody>
      </p:sp>
      <p:sp>
        <p:nvSpPr>
          <p:cNvPr id="23" name="card"/>
          <p:cNvSpPr/>
          <p:nvPr/>
        </p:nvSpPr>
        <p:spPr>
          <a:xfrm>
            <a:off x="3246120" y="278892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24" name="badge5"/>
          <p:cNvSpPr/>
          <p:nvPr/>
        </p:nvSpPr>
        <p:spPr>
          <a:xfrm>
            <a:off x="3429000" y="297180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2900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2971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카드번호 저장 안 하기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3520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결제는 PG사에 맡기기</a:t>
            </a:r>
            <a:endParaRPr lang="en-US" sz="1300" dirty="0"/>
          </a:p>
        </p:txBody>
      </p:sp>
      <p:sp>
        <p:nvSpPr>
          <p:cNvPr id="28" name="card"/>
          <p:cNvSpPr/>
          <p:nvPr/>
        </p:nvSpPr>
        <p:spPr>
          <a:xfrm>
            <a:off x="6035040" y="278892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29" name="badge6"/>
          <p:cNvSpPr/>
          <p:nvPr/>
        </p:nvSpPr>
        <p:spPr>
          <a:xfrm>
            <a:off x="6217920" y="297180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179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720840" y="2971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다른 곳에 백업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520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랜섬웨어 대비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한국에서 쇼핑몰을 시작하는 순서</a:t>
            </a:r>
            <a:endParaRPr lang="en-US" sz="2800" dirty="0"/>
          </a:p>
        </p:txBody>
      </p:sp>
      <p:sp>
        <p:nvSpPr>
          <p:cNvPr id="3" name="badge1"/>
          <p:cNvSpPr/>
          <p:nvPr/>
        </p:nvSpPr>
        <p:spPr>
          <a:xfrm>
            <a:off x="868680" y="132588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사업자등록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68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홈택스</a:t>
            </a:r>
            <a:endParaRPr lang="en-US" sz="1100" dirty="0"/>
          </a:p>
        </p:txBody>
      </p:sp>
      <p:sp>
        <p:nvSpPr>
          <p:cNvPr id="7" name="badge2"/>
          <p:cNvSpPr/>
          <p:nvPr/>
        </p:nvSpPr>
        <p:spPr>
          <a:xfrm>
            <a:off x="2258568" y="132588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258568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847088" y="1920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통장·카드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47088" y="2468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사업용</a:t>
            </a:r>
            <a:endParaRPr lang="en-US" sz="1100" dirty="0"/>
          </a:p>
        </p:txBody>
      </p:sp>
      <p:sp>
        <p:nvSpPr>
          <p:cNvPr id="11" name="badge3"/>
          <p:cNvSpPr/>
          <p:nvPr/>
        </p:nvSpPr>
        <p:spPr>
          <a:xfrm>
            <a:off x="3648456" y="132588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48456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236976" y="1920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PG + 에스크로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236976" y="2468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결제 대행</a:t>
            </a:r>
            <a:endParaRPr lang="en-US" sz="1100" dirty="0"/>
          </a:p>
        </p:txBody>
      </p:sp>
      <p:sp>
        <p:nvSpPr>
          <p:cNvPr id="15" name="badge4"/>
          <p:cNvSpPr/>
          <p:nvPr/>
        </p:nvSpPr>
        <p:spPr>
          <a:xfrm>
            <a:off x="5038344" y="13258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38344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626864" y="1920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통신판매업 신고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626864" y="2468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정부24·구청</a:t>
            </a:r>
            <a:endParaRPr lang="en-US" sz="1100" dirty="0"/>
          </a:p>
        </p:txBody>
      </p:sp>
      <p:sp>
        <p:nvSpPr>
          <p:cNvPr id="19" name="badge5"/>
          <p:cNvSpPr/>
          <p:nvPr/>
        </p:nvSpPr>
        <p:spPr>
          <a:xfrm>
            <a:off x="6428232" y="132588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28232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016752" y="1920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사이트 표시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016752" y="2468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사업자정보·약관·처리방침</a:t>
            </a:r>
            <a:endParaRPr lang="en-US" sz="1100" dirty="0"/>
          </a:p>
        </p:txBody>
      </p:sp>
      <p:sp>
        <p:nvSpPr>
          <p:cNvPr id="23" name="badge6"/>
          <p:cNvSpPr/>
          <p:nvPr/>
        </p:nvSpPr>
        <p:spPr>
          <a:xfrm>
            <a:off x="7818120" y="132588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8181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406640" y="1920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영업·세금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406640" y="2468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부가세·종소세</a:t>
            </a:r>
            <a:endParaRPr lang="en-US" sz="1100" dirty="0"/>
          </a:p>
        </p:txBody>
      </p:sp>
      <p:sp>
        <p:nvSpPr>
          <p:cNvPr id="27" name="card"/>
          <p:cNvSpPr/>
          <p:nvPr/>
        </p:nvSpPr>
        <p:spPr>
          <a:xfrm>
            <a:off x="457200" y="3246120"/>
            <a:ext cx="82296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5800" y="33832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개인정보 5원칙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최소 수집 · 동의(마케팅은 따로) · 처리방침 공개 · 안전 보관 · 파기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법은 자주 바뀝니다. 시작 전 홈택스·정부24·개인정보보호위원회에서 재확인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매출 = 방문자 × 전환율 × 객단가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9728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"/>
          <p:cNvSpPr/>
          <p:nvPr/>
        </p:nvSpPr>
        <p:spPr>
          <a:xfrm>
            <a:off x="5760720" y="1280160"/>
            <a:ext cx="2926080" cy="30175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94360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전환율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17830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2%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2651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상품 보기 → 장바구니에서 가장 많이 빠진다 (4,000 → 800)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3474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→ 가장 많이 빠지는 단계부터 고친다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B2C와 B2B는 운영이 다르다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B2C (개인)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B2B (기업)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손님 수 · 금액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많고 작다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적고 크다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사기까지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몇 초 ~ 며칠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몇 주 ~ 몇 달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결정하는 사람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본인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여러 명 (팀장·구매·보안)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결제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카드 즉시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세금계산서 · 연간 계약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마케팅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SNS 광고 · 후기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영업 · 사례 · 세미나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운영 핵심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광고 효율 · 재구매 · CS 대량 처리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SLA · 온보딩 · 고객 성공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운영 리듬: 언제 무엇을 점검하나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1920240" cy="31089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매일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주문·문의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모니터링 알림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어제 매출·광고비</a:t>
            </a:r>
            <a:endParaRPr lang="en-US" sz="1300" dirty="0"/>
          </a:p>
        </p:txBody>
      </p:sp>
      <p:sp>
        <p:nvSpPr>
          <p:cNvPr id="6" name="card"/>
          <p:cNvSpPr/>
          <p:nvPr/>
        </p:nvSpPr>
        <p:spPr>
          <a:xfrm>
            <a:off x="2560320" y="1188720"/>
            <a:ext cx="1920240" cy="31089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743200" y="1371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매주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96596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백업 성공 확인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데이터 내보내기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보안 업데이트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663440" y="1188720"/>
            <a:ext cx="1920240" cy="31089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46320" y="1371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매월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96596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도메인·카드 만료일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안 쓰는 계정 정리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월 손익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6766560" y="1188720"/>
            <a:ext cx="1920240" cy="310896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49440" y="1371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분기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196596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복구 훈련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비밀번호 교체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약관 점검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6451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전체 점검표는 docs/14-checklists.md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여러 가지 사이트 사업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커뮤니티 · 정보 사이트 · 트래픽 수익 · 로또 사이트 · 게임(오목) · 아이템 비교 — 16–21장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커뮤니티: 회원이 콘텐츠를 만든다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32918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1%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11887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글을 열심히 쓴다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457200" y="2240280"/>
            <a:ext cx="32918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2402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9%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240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가끔 댓글을 단다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457200" y="3291840"/>
            <a:ext cx="32918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2918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90%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32918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읽기만 한다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운영의 핵심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169164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주제를 좁게, 처음엔 운영자가 직접 글 쓰기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짧고 구체적인 규칙 + 처벌 수준 명시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모든 제재를 기록, 관리자 권한은 최소한만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삭제 요청엔 삭제 또는 임시조치(최대 30일)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수익화는 회원 신뢰를 해치지 않게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정보 사이트: 검색 → 답 → 광고·제휴</a:t>
            </a:r>
            <a:endParaRPr lang="en-US" sz="2800" dirty="0"/>
          </a:p>
        </p:txBody>
      </p:sp>
      <p:sp>
        <p:nvSpPr>
          <p:cNvPr id="3" name="badge1"/>
          <p:cNvSpPr/>
          <p:nvPr/>
        </p:nvSpPr>
        <p:spPr>
          <a:xfrm>
            <a:off x="1005840" y="1234440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1234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검색</a:t>
            </a:r>
            <a:endParaRPr lang="en-US" sz="1300" dirty="0"/>
          </a:p>
        </p:txBody>
      </p:sp>
      <p:sp>
        <p:nvSpPr>
          <p:cNvPr id="6" name="flow0"/>
          <p:cNvSpPr/>
          <p:nvPr/>
        </p:nvSpPr>
        <p:spPr>
          <a:xfrm>
            <a:off x="1517904" y="1444752"/>
            <a:ext cx="1179576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7" name="badge2"/>
          <p:cNvSpPr/>
          <p:nvPr/>
        </p:nvSpPr>
        <p:spPr>
          <a:xfrm>
            <a:off x="2697480" y="1234440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697480" y="1234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173736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내 페이지 노출</a:t>
            </a:r>
            <a:endParaRPr lang="en-US" sz="1300" dirty="0"/>
          </a:p>
        </p:txBody>
      </p:sp>
      <p:sp>
        <p:nvSpPr>
          <p:cNvPr id="10" name="flow1"/>
          <p:cNvSpPr/>
          <p:nvPr/>
        </p:nvSpPr>
        <p:spPr>
          <a:xfrm>
            <a:off x="3209544" y="1444752"/>
            <a:ext cx="1179576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11" name="badge3"/>
          <p:cNvSpPr/>
          <p:nvPr/>
        </p:nvSpPr>
        <p:spPr>
          <a:xfrm>
            <a:off x="4389120" y="1234440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89120" y="1234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840480" y="173736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클릭(트래픽)</a:t>
            </a:r>
            <a:endParaRPr lang="en-US" sz="1300" dirty="0"/>
          </a:p>
        </p:txBody>
      </p:sp>
      <p:sp>
        <p:nvSpPr>
          <p:cNvPr id="14" name="flow2"/>
          <p:cNvSpPr/>
          <p:nvPr/>
        </p:nvSpPr>
        <p:spPr>
          <a:xfrm>
            <a:off x="4901184" y="1444752"/>
            <a:ext cx="1179576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15" name="badge4"/>
          <p:cNvSpPr/>
          <p:nvPr/>
        </p:nvSpPr>
        <p:spPr>
          <a:xfrm>
            <a:off x="6080760" y="123444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080760" y="1234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532120" y="173736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답 + 광고</a:t>
            </a:r>
            <a:endParaRPr lang="en-US" sz="1300" dirty="0"/>
          </a:p>
        </p:txBody>
      </p:sp>
      <p:sp>
        <p:nvSpPr>
          <p:cNvPr id="18" name="flow3"/>
          <p:cNvSpPr/>
          <p:nvPr/>
        </p:nvSpPr>
        <p:spPr>
          <a:xfrm>
            <a:off x="6592824" y="1444752"/>
            <a:ext cx="1179576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19" name="badge5"/>
          <p:cNvSpPr/>
          <p:nvPr/>
        </p:nvSpPr>
        <p:spPr>
          <a:xfrm>
            <a:off x="7772400" y="1234440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0" y="1234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173736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재방문</a:t>
            </a:r>
            <a:endParaRPr lang="en-US" sz="1300" dirty="0"/>
          </a:p>
        </p:txBody>
      </p:sp>
      <p:sp>
        <p:nvSpPr>
          <p:cNvPr id="22" name="card"/>
          <p:cNvSpPr/>
          <p:nvPr/>
        </p:nvSpPr>
        <p:spPr>
          <a:xfrm>
            <a:off x="457200" y="2377440"/>
            <a:ext cx="40233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2514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약해진 것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297180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'OO란?' 같은 단순 정의 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검색에만 의존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글 대량으로 찍어내기 (스팸)</a:t>
            </a:r>
            <a:endParaRPr lang="en-US" sz="1400" dirty="0"/>
          </a:p>
        </p:txBody>
      </p:sp>
      <p:sp>
        <p:nvSpPr>
          <p:cNvPr id="25" name="card"/>
          <p:cNvSpPr/>
          <p:nvPr/>
        </p:nvSpPr>
        <p:spPr>
          <a:xfrm>
            <a:off x="4663440" y="2377440"/>
            <a:ext cx="402336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92040" y="2514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강해진 것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297180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직접 해 본 후기, 나만의 데이터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계산기 같은 도구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뉴스레터·커뮤니티 구독자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6451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AI 요약이 뜨면 사람들이 링크를 덜 누른다 — AI 검색 시대의 변화 (17장)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트래픽 수익 = 페이지뷰 ÷ 1,000 × RPM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10만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월 페이지뷰</a:t>
            </a:r>
            <a:endParaRPr lang="en-US" sz="1300" dirty="0"/>
          </a:p>
        </p:txBody>
      </p:sp>
      <p:sp>
        <p:nvSpPr>
          <p:cNvPr id="6" name="card"/>
          <p:cNvSpPr/>
          <p:nvPr/>
        </p:nvSpPr>
        <p:spPr>
          <a:xfrm>
            <a:off x="3246120" y="118872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29000" y="13258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× 2,000원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194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RPM (예시)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6035040" y="118872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13258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= 20만 원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194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월 광고 수익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457200" y="2971800"/>
            <a:ext cx="822960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계정 정지되는 행동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5204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내 광고 내가 클릭 · '광고 눌러 주세요' · 트래픽 구매·봇 · 금지 콘텐츠 · 위장 광고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제휴 링크엔 '수수료를 받는다'는 광고 표시 필수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6451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RPM은 주제·방문자에 따라 수십 배 차이 — 위 숫자는 계산 연습용 예시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로또 사이트: 어디까지 괜찮나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606040" cy="26517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4" name="light0"/>
          <p:cNvSpPr/>
          <p:nvPr/>
        </p:nvSpPr>
        <p:spPr>
          <a:xfrm>
            <a:off x="640080" y="1353312"/>
            <a:ext cx="365760" cy="365760"/>
          </a:xfrm>
          <a:prstGeom prst="ellipse">
            <a:avLst/>
          </a:prstGeom>
          <a:solidFill>
            <a:srgbClr val="3E9B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132588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괜찮음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당첨 번호 통계·그래프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무료 랜덤 생성기 ('재미용' 표시)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당첨금 세금 계산기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3246120" y="1188720"/>
            <a:ext cx="2606040" cy="26517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8" name="light1"/>
          <p:cNvSpPr/>
          <p:nvPr/>
        </p:nvSpPr>
        <p:spPr>
          <a:xfrm>
            <a:off x="3429000" y="1353312"/>
            <a:ext cx="365760" cy="365760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931920" y="132588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주의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92024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'통계 추천 번호'로 효과 과장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무료 번호 미끼로 전화번호 수집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6035040" y="1188720"/>
            <a:ext cx="2606040" cy="26517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2" name="light2"/>
          <p:cNvSpPr/>
          <p:nvPr/>
        </p:nvSpPr>
        <p:spPr>
          <a:xfrm>
            <a:off x="6217920" y="1353312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20840" y="132588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위험·불법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92024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유료 '당첨 번호 예측'·보장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복권 구매 대행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로또 번호 사설 베팅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모든 번호 조합의 1등 확률은 같다: 8,145,060분의 1.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돈 받고 당첨을 약속하면 선을 넘은 것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게임 사이트: 오목으로 배우기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설계 핵심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 대전부터 (사람이 적어도 돌아가게)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빠른 대전 매칭 + 레이팅(실력 점수)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판정은 서버가 (조작 방지)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부정행위(AI 따라 두기)·탈주 대응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배포는 진행 중인 판이 끝난 뒤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4572000" y="1188720"/>
            <a:ext cx="411480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80060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게임법 3가지</a:t>
            </a:r>
            <a:endParaRPr lang="en-US" sz="1600" dirty="0"/>
          </a:p>
        </p:txBody>
      </p:sp>
      <p:sp>
        <p:nvSpPr>
          <p:cNvPr id="7" name="badge1"/>
          <p:cNvSpPr/>
          <p:nvPr/>
        </p:nvSpPr>
        <p:spPr>
          <a:xfrm>
            <a:off x="4800600" y="182880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0060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30352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등급분류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앱 마켓은 자체 등급, 내 사이트는 직접 확인</a:t>
            </a:r>
            <a:endParaRPr lang="en-US" sz="1500" dirty="0"/>
          </a:p>
        </p:txBody>
      </p:sp>
      <p:sp>
        <p:nvSpPr>
          <p:cNvPr id="10" name="badge2"/>
          <p:cNvSpPr/>
          <p:nvPr/>
        </p:nvSpPr>
        <p:spPr>
          <a:xfrm>
            <a:off x="4800600" y="2651760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0060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260604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환전 금지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이기면 돈을 받는 구조 = 도박</a:t>
            </a:r>
            <a:endParaRPr lang="en-US" sz="1500" dirty="0"/>
          </a:p>
        </p:txBody>
      </p:sp>
      <p:sp>
        <p:nvSpPr>
          <p:cNvPr id="13" name="badge3"/>
          <p:cNvSpPr/>
          <p:nvPr/>
        </p:nvSpPr>
        <p:spPr>
          <a:xfrm>
            <a:off x="4800600" y="347472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0060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34290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확률 공개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유료 뽑기는 확률을 %로 공개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사업 아이템 비교와 키우는 순서</a:t>
            </a:r>
            <a:endParaRPr lang="en-US" sz="2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51206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822960"/>
                <a:gridCol w="822960"/>
                <a:gridCol w="822960"/>
                <a:gridCol w="822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아이템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시작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개발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운영 부담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위험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정보 블로그 · 뉴스레터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쉬움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거의 없음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중간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낮음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도구(계산기) 사이트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쉬움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조금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낮음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낮음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커뮤니티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보통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조금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높음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중간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대전 게임(오목)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어려움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많음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높음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중간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SaaS · 중개 플랫폼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매우 어려움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많음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매우 높음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높음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ard"/>
          <p:cNvSpPr/>
          <p:nvPr/>
        </p:nvSpPr>
        <p:spPr>
          <a:xfrm>
            <a:off x="5852160" y="1143000"/>
            <a:ext cx="2834640" cy="324612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035040" y="1280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한 주제로 키우기</a:t>
            </a:r>
            <a:endParaRPr lang="en-US" sz="1500" dirty="0"/>
          </a:p>
        </p:txBody>
      </p:sp>
      <p:sp>
        <p:nvSpPr>
          <p:cNvPr id="6" name="badge1"/>
          <p:cNvSpPr/>
          <p:nvPr/>
        </p:nvSpPr>
        <p:spPr>
          <a:xfrm>
            <a:off x="6035040" y="178308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0350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37960" y="17830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정보·도구</a:t>
            </a:r>
            <a:endParaRPr lang="en-US" sz="1500" dirty="0"/>
          </a:p>
        </p:txBody>
      </p:sp>
      <p:sp>
        <p:nvSpPr>
          <p:cNvPr id="9" name="badge2"/>
          <p:cNvSpPr/>
          <p:nvPr/>
        </p:nvSpPr>
        <p:spPr>
          <a:xfrm>
            <a:off x="6035040" y="260604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03504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606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커뮤니티</a:t>
            </a:r>
            <a:endParaRPr lang="en-US" sz="1500" dirty="0"/>
          </a:p>
        </p:txBody>
      </p:sp>
      <p:sp>
        <p:nvSpPr>
          <p:cNvPr id="12" name="badge3"/>
          <p:cNvSpPr/>
          <p:nvPr/>
        </p:nvSpPr>
        <p:spPr>
          <a:xfrm>
            <a:off x="6035040" y="342900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03504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34290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게임·상품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035040" y="3931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앞 단계의 방문자가 다음 단계의 첫 손님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더 넓은 분류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분류 지도 · 셀러 · 크리에이터 · 앱 · 지식·외주 · 중개 플랫폼 · AI · 규제 업종 — 22–29장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사업을 나누는 6가지 기준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6060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4" name="badge1"/>
          <p:cNvSpPr/>
          <p:nvPr/>
        </p:nvSpPr>
        <p:spPr>
          <a:xfrm>
            <a:off x="640080" y="137160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371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누구에게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B2C · B2B · C2C · B2G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3246120" y="1188720"/>
            <a:ext cx="26060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9" name="badge2"/>
          <p:cNvSpPr/>
          <p:nvPr/>
        </p:nvSpPr>
        <p:spPr>
          <a:xfrm>
            <a:off x="3429000" y="137160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371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무엇을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실물 · 디지털 · 서비스 · 소프트웨어 · 콘텐츠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6035040" y="1188720"/>
            <a:ext cx="26060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14" name="badge3"/>
          <p:cNvSpPr/>
          <p:nvPr/>
        </p:nvSpPr>
        <p:spPr>
          <a:xfrm>
            <a:off x="6217920" y="137160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1371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어떻게 버나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판매 · 구독 · 수수료 · 광고 · 후원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457200" y="2606040"/>
            <a:ext cx="26060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19" name="badge4"/>
          <p:cNvSpPr/>
          <p:nvPr/>
        </p:nvSpPr>
        <p:spPr>
          <a:xfrm>
            <a:off x="640080" y="278892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7889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누가 만드나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운영자 · 회원 · 판매자 · AI</a:t>
            </a:r>
            <a:endParaRPr lang="en-US" sz="1200" dirty="0"/>
          </a:p>
        </p:txBody>
      </p:sp>
      <p:sp>
        <p:nvSpPr>
          <p:cNvPr id="23" name="card"/>
          <p:cNvSpPr/>
          <p:nvPr/>
        </p:nvSpPr>
        <p:spPr>
          <a:xfrm>
            <a:off x="3246120" y="2606040"/>
            <a:ext cx="26060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24" name="badge5"/>
          <p:cNvSpPr/>
          <p:nvPr/>
        </p:nvSpPr>
        <p:spPr>
          <a:xfrm>
            <a:off x="3429000" y="278892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2900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27889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어디서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내 사이트 / 남의 플랫폼</a:t>
            </a:r>
            <a:endParaRPr lang="en-US" sz="1200" dirty="0"/>
          </a:p>
        </p:txBody>
      </p:sp>
      <p:sp>
        <p:nvSpPr>
          <p:cNvPr id="28" name="card"/>
          <p:cNvSpPr/>
          <p:nvPr/>
        </p:nvSpPr>
        <p:spPr>
          <a:xfrm>
            <a:off x="6035040" y="2606040"/>
            <a:ext cx="2606040" cy="1234440"/>
          </a:xfrm>
          <a:prstGeom prst="roundRect">
            <a:avLst>
              <a:gd name="adj" fmla="val 5926"/>
            </a:avLst>
          </a:prstGeom>
          <a:solidFill>
            <a:schemeClr val="tx2"/>
          </a:solidFill>
          <a:ln/>
        </p:spPr>
      </p:sp>
      <p:sp>
        <p:nvSpPr>
          <p:cNvPr id="29" name="badge6"/>
          <p:cNvSpPr/>
          <p:nvPr/>
        </p:nvSpPr>
        <p:spPr>
          <a:xfrm>
            <a:off x="6217920" y="27889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1792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720840" y="27889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규제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신고만 / 등록·허가 / 금지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6451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새 아이디어는 6칸을 채워 보며 위험을 찾는다 (22장)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오픈마켓 셀러와 크리에이터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4" name="sc0"/>
          <p:cNvSpPr/>
          <p:nvPr/>
        </p:nvSpPr>
        <p:spPr>
          <a:xfrm>
            <a:off x="457200" y="1188720"/>
            <a:ext cx="402336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188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오픈마켓 셀러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1887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23장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011680"/>
            <a:ext cx="3611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손님은 이미 있음, 대신 수수료·경쟁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사입 · 위탁판매 · 구매대행 · 내 브랜드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마켓 안 검색 최적화 + 수수료 뺀 마진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배송 기한·CS 점수 관리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663440" y="1188720"/>
            <a:ext cx="402336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9" name="sc1"/>
          <p:cNvSpPr/>
          <p:nvPr/>
        </p:nvSpPr>
        <p:spPr>
          <a:xfrm>
            <a:off x="4663440" y="1188720"/>
            <a:ext cx="402336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92040" y="1188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크리에이터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11887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24장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2011680"/>
            <a:ext cx="3611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콘텐츠 = 제품, 업로드 = 배포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광고 배분 + 후원·멤버십 + 협찬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협찬은 반드시 광고 표시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원본 백업 · 2단계 인증 · 팬을 내 채널로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앱은 웹보다 업데이트가 어렵다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badge1"/>
          <p:cNvSpPr/>
          <p:nvPr/>
        </p:nvSpPr>
        <p:spPr>
          <a:xfrm>
            <a:off x="640080" y="1353312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3533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심사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20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올려도 마켓 심사를 통과해야 나감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3246120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badge2"/>
          <p:cNvSpPr/>
          <p:nvPr/>
        </p:nvSpPr>
        <p:spPr>
          <a:xfrm>
            <a:off x="3429000" y="1353312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3533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되돌리기 불가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920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이미 깔린 버전은 되돌릴 수 없음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6035040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badge3"/>
          <p:cNvSpPr/>
          <p:nvPr/>
        </p:nvSpPr>
        <p:spPr>
          <a:xfrm>
            <a:off x="6217920" y="1353312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0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13533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옛 버전 공존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920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업데이트 안 한 사람이 계속 남음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457200" y="2880360"/>
            <a:ext cx="8229600" cy="1508760"/>
          </a:xfrm>
          <a:prstGeom prst="roundRect">
            <a:avLst>
              <a:gd name="adj" fmla="val 4848"/>
            </a:avLst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그래서 쓰는 장치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34290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단계적 출시 · 베타 테스트 · 기능 플래그 · 서버에서 설정 바꾸기 · 강제 업데이트 · 크래시 리포트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디지털 상품 결제엔 앱 마켓 수수료 15–30% (조건에 따라)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지식·외주 판매와 중개 플랫폼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지식·외주 (26장)</a:t>
            </a:r>
            <a:endParaRPr lang="en-US" sz="1600" dirty="0"/>
          </a:p>
        </p:txBody>
      </p:sp>
      <p:sp>
        <p:nvSpPr>
          <p:cNvPr id="4" name="badge1"/>
          <p:cNvSpPr/>
          <p:nvPr/>
        </p:nvSpPr>
        <p:spPr>
          <a:xfrm>
            <a:off x="457200" y="169164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6459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디지털 상품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한 번 만들어 계속 판매</a:t>
            </a:r>
            <a:endParaRPr lang="en-US" sz="1500" dirty="0"/>
          </a:p>
        </p:txBody>
      </p:sp>
      <p:sp>
        <p:nvSpPr>
          <p:cNvPr id="7" name="badge2"/>
          <p:cNvSpPr/>
          <p:nvPr/>
        </p:nvSpPr>
        <p:spPr>
          <a:xfrm>
            <a:off x="457200" y="256032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5146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강의·코칭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만들기 전 사전 신청으로 수요 확인</a:t>
            </a:r>
            <a:endParaRPr lang="en-US" sz="1500" dirty="0"/>
          </a:p>
        </p:txBody>
      </p:sp>
      <p:sp>
        <p:nvSpPr>
          <p:cNvPr id="10" name="badge3"/>
          <p:cNvSpPr/>
          <p:nvPr/>
        </p:nvSpPr>
        <p:spPr>
          <a:xfrm>
            <a:off x="457200" y="342900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3832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외주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계약서: 범위·수정 횟수·저작권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4572000" y="1188720"/>
            <a:ext cx="411480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0060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중개 플랫폼 (27장)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1783080"/>
            <a:ext cx="3703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한쪽 먼저, 좁은 지역·분야부터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신뢰 장치: 본인 확인·리뷰·안전결제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탈중개(직거래) 막을 혜택 만들기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구인구직·결혼중개·숙박·의료는 업종별 신고·등록 확인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AI 서비스: 쓸 때마다 원가가 나간다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9728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"/>
          <p:cNvSpPr/>
          <p:nvPr/>
        </p:nvSpPr>
        <p:spPr>
          <a:xfrm>
            <a:off x="5760720" y="1188720"/>
            <a:ext cx="2926080" cy="320040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94360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운영 체크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1783080"/>
            <a:ext cx="2606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사용량 제한·과금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틀린 답(환각) 안내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모델 바뀌면 테스트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입력 정보 외부 전송 고지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AI 생성물 표시 (AI 기본법)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시작 전에 확인할 규제 업종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4" name="reg0"/>
          <p:cNvSpPr/>
          <p:nvPr/>
        </p:nvSpPr>
        <p:spPr>
          <a:xfrm>
            <a:off x="640080" y="1344168"/>
            <a:ext cx="365760" cy="365760"/>
          </a:xfrm>
          <a:prstGeom prst="ellipse">
            <a:avLst/>
          </a:prstGeom>
          <a:solidFill>
            <a:srgbClr val="3E9B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11887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신고 정도면 시작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1887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일반 쇼핑몰 · 정보 사이트 · 템플릿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457200" y="1993392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8" name="reg1"/>
          <p:cNvSpPr/>
          <p:nvPr/>
        </p:nvSpPr>
        <p:spPr>
          <a:xfrm>
            <a:off x="640080" y="2148840"/>
            <a:ext cx="365760" cy="365760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88720" y="199339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추가 신고·등록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199339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건강기능식품 · 직업소개 · 위치정보 · 게임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457200" y="2798064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12" name="reg2"/>
          <p:cNvSpPr/>
          <p:nvPr/>
        </p:nvSpPr>
        <p:spPr>
          <a:xfrm>
            <a:off x="640080" y="2953512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88720" y="2798064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허가·라이선스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279806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결제·송금 · 투자자문 · 가상자산 · 의료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457200" y="3602736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16" name="reg3"/>
          <p:cNvSpPr/>
          <p:nvPr/>
        </p:nvSpPr>
        <p:spPr>
          <a:xfrm>
            <a:off x="640080" y="3758184"/>
            <a:ext cx="365760" cy="365760"/>
          </a:xfrm>
          <a:prstGeom prst="ellipse">
            <a:avLst/>
          </a:prstGeom>
          <a:solidFill>
            <a:srgbClr val="1B2B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88720" y="3602736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온라인 판매 금지·제한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3602736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의약품 · 담배 · 주류(일부 예외) · 도수 렌즈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6451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애매하면 정부24에서 업종 인허가 검색, 관계 기관·전문가에게 확인 (29장)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문의·광고 받기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문의 창구 · 도메인 이메일 · 스팸함 피하기 · 광고 메일 규칙 · 광고·제휴 문의 — 30–31장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시작은 도메인 이메일 1개 + 문의 폼 1개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문의 창구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이메일 — 모든 사업의 기본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문의 폼 — 필요한 정보만, 스팸 막기 쉬움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1:1 게시판 · 카카오톡 채널 · 채팅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앱 안 문의 · 마켓 문의 기능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창구가 많을수록 놓치는 문의도 늘어남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4572000" y="1188720"/>
            <a:ext cx="411480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800600" y="1325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용도별 주소 (한 메일함으로 모으기)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800600" y="17830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help@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783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일반 문의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22860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ads@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광고·제휴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7889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privacy@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788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개인정보 요청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32918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report@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3291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불법 게시물 신고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3794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billing@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3794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결제·환불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스팸함에 안 빠지게: SPF · DKIM · DMARC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19202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MX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우편함 위치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어느 서버가 메일을 받나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2560320" y="1188720"/>
            <a:ext cx="1920240" cy="192024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43200" y="1325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SPF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1874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보내는 우체국 명단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2860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내 이름으로 보내도 되는 서버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4663440" y="1188720"/>
            <a:ext cx="1920240" cy="192024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46320" y="1325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DKIM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874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봉투의 도장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2860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중간에 안 바뀌었다는 서명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6766560" y="1188720"/>
            <a:ext cx="1920240" cy="192024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49440" y="1325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DMARC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1874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처리 지침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22860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검사 실패 메일을 어떻게 할지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3375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설정 팁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값은 내 메일 서비스가 알려 주는 그대로 · SPF는 도메인당 하나(합치기) · DMARC는 p=none으로 시작해 단계적으로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대량 발송 규칙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하루 약 5,000통 이상이면 세 가지 모두 + 원클릭 수신거부 + 스팸 신고율 0.3% 미만 (Gmail·Yahoo)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광고 메일·문자를 보낼 때 5가지 규칙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4" name="badge1"/>
          <p:cNvSpPr/>
          <p:nvPr/>
        </p:nvSpPr>
        <p:spPr>
          <a:xfrm>
            <a:off x="594360" y="12344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1430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사전 동의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11430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약관에 섞지 말고 선택 항목으로 따로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457200" y="1801368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9" name="badge2"/>
          <p:cNvSpPr/>
          <p:nvPr/>
        </p:nvSpPr>
        <p:spPr>
          <a:xfrm>
            <a:off x="594360" y="189280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18013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(광고) 표시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180136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제목·문자 맨 앞에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2459736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14" name="badge3"/>
          <p:cNvSpPr/>
          <p:nvPr/>
        </p:nvSpPr>
        <p:spPr>
          <a:xfrm>
            <a:off x="594360" y="255117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2551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45973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쉬운 수신거부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245973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로그인 요구 등 방해 금지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457200" y="3118104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19" name="badge4"/>
          <p:cNvSpPr/>
          <p:nvPr/>
        </p:nvSpPr>
        <p:spPr>
          <a:xfrm>
            <a:off x="594360" y="320954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311810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야간 별도 동의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566160" y="311810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흔히 21시~다음 날 8시</a:t>
            </a:r>
            <a:endParaRPr lang="en-US" sz="1300" dirty="0"/>
          </a:p>
        </p:txBody>
      </p:sp>
      <p:sp>
        <p:nvSpPr>
          <p:cNvPr id="23" name="card"/>
          <p:cNvSpPr/>
          <p:nvPr/>
        </p:nvSpPr>
        <p:spPr>
          <a:xfrm>
            <a:off x="457200" y="3776472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24" name="badge5"/>
          <p:cNvSpPr/>
          <p:nvPr/>
        </p:nvSpPr>
        <p:spPr>
          <a:xfrm>
            <a:off x="594360" y="386791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377647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2년마다 확인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566160" y="377647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계속 받을지 다시 묻기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6451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주문 안내 같은 거래 메일에 광고를 섞지 않기 — 정보통신망법 제50조 (30장)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광고·제휴 문의 받기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준비물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광고 문의 페이지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ads@ 전용 주소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미디어킷: 방문자 숫자 · 독자 특징 · 상품 · 가격 · 원칙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진행 순서</a:t>
            </a:r>
            <a:endParaRPr lang="en-US" sz="1600" dirty="0"/>
          </a:p>
        </p:txBody>
      </p:sp>
      <p:sp>
        <p:nvSpPr>
          <p:cNvPr id="6" name="badge1"/>
          <p:cNvSpPr/>
          <p:nvPr/>
        </p:nvSpPr>
        <p:spPr>
          <a:xfrm>
            <a:off x="3291840" y="1645920"/>
            <a:ext cx="329184" cy="32918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91840" y="1645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703320" y="16276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광고주 확인</a:t>
            </a:r>
            <a:endParaRPr lang="en-US" sz="1300" dirty="0"/>
          </a:p>
        </p:txBody>
      </p:sp>
      <p:sp>
        <p:nvSpPr>
          <p:cNvPr id="9" name="badge2"/>
          <p:cNvSpPr/>
          <p:nvPr/>
        </p:nvSpPr>
        <p:spPr>
          <a:xfrm>
            <a:off x="3291840" y="2075688"/>
            <a:ext cx="329184" cy="32918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91840" y="2075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견적 · 계약</a:t>
            </a:r>
            <a:endParaRPr lang="en-US" sz="1300" dirty="0"/>
          </a:p>
        </p:txBody>
      </p:sp>
      <p:sp>
        <p:nvSpPr>
          <p:cNvPr id="12" name="badge3"/>
          <p:cNvSpPr/>
          <p:nvPr/>
        </p:nvSpPr>
        <p:spPr>
          <a:xfrm>
            <a:off x="3291840" y="2505456"/>
            <a:ext cx="329184" cy="32918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291840" y="2505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2487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선불 결제</a:t>
            </a:r>
            <a:endParaRPr lang="en-US" sz="1300" dirty="0"/>
          </a:p>
        </p:txBody>
      </p:sp>
      <p:sp>
        <p:nvSpPr>
          <p:cNvPr id="15" name="badge4"/>
          <p:cNvSpPr/>
          <p:nvPr/>
        </p:nvSpPr>
        <p:spPr>
          <a:xfrm>
            <a:off x="3291840" y="2935224"/>
            <a:ext cx="329184" cy="32918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291840" y="2935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703320" y="29169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소재 검수</a:t>
            </a:r>
            <a:endParaRPr lang="en-US" sz="1300" dirty="0"/>
          </a:p>
        </p:txBody>
      </p:sp>
      <p:sp>
        <p:nvSpPr>
          <p:cNvPr id="18" name="badge5"/>
          <p:cNvSpPr/>
          <p:nvPr/>
        </p:nvSpPr>
        <p:spPr>
          <a:xfrm>
            <a:off x="3291840" y="3364992"/>
            <a:ext cx="329184" cy="32918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291840" y="3364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703320" y="33467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광고 표시 게재</a:t>
            </a:r>
            <a:endParaRPr lang="en-US" sz="1300" dirty="0"/>
          </a:p>
        </p:txBody>
      </p:sp>
      <p:sp>
        <p:nvSpPr>
          <p:cNvPr id="21" name="badge6"/>
          <p:cNvSpPr/>
          <p:nvPr/>
        </p:nvSpPr>
        <p:spPr>
          <a:xfrm>
            <a:off x="3291840" y="3794760"/>
            <a:ext cx="329184" cy="32918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291840" y="3794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703320" y="3776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결과 보고</a:t>
            </a:r>
            <a:endParaRPr lang="en-US" sz="1300" dirty="0"/>
          </a:p>
        </p:txBody>
      </p:sp>
      <p:sp>
        <p:nvSpPr>
          <p:cNvPr id="24" name="card"/>
          <p:cNvSpPr/>
          <p:nvPr/>
        </p:nvSpPr>
        <p:spPr>
          <a:xfrm>
            <a:off x="5852160" y="1188720"/>
            <a:ext cx="2834640" cy="3200400"/>
          </a:xfrm>
          <a:prstGeom prst="roundRect">
            <a:avLst>
              <a:gd name="adj" fmla="val 2581"/>
            </a:avLst>
          </a:prstGeom>
          <a:solidFill>
            <a:schemeClr val="tx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035040" y="1325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거절할 광고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035040" y="1783080"/>
            <a:ext cx="2560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불법 도박 · 토토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성인물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수익 보장 투자 · 코인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의약품 효능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광고 표시 없이 해 달라는 요청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백링크 판매 · 수상한 첨부 파일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안전하게, 자주 반복하기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기획 → 백업 → 연습용 사이트에서 수정 → 확인 → 배포 → 감시 → 숫자 보기 → 다시 기획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다음 할 일: docs/13-practice-scenario.md 를 읽고 15장 퀴즈 풀기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orefront">
  <a:themeElements>
    <a:clrScheme name="Storefront">
      <a:dk1>
        <a:srgbClr val="1B2B2E"/>
      </a:dk1>
      <a:lt1>
        <a:srgbClr val="FFFFFF"/>
      </a:lt1>
      <a:dk2>
        <a:srgbClr val="1F4E4A"/>
      </a:dk2>
      <a:lt2>
        <a:srgbClr val="EEF4F3"/>
      </a:lt2>
      <a:accent1>
        <a:srgbClr val="1F4E4A"/>
      </a:accent1>
      <a:accent2>
        <a:srgbClr val="F08A3E"/>
      </a:accent2>
      <a:accent3>
        <a:srgbClr val="2E9C8F"/>
      </a:accent3>
      <a:accent4>
        <a:srgbClr val="7A8C8E"/>
      </a:accent4>
      <a:accent5>
        <a:srgbClr val="D9534F"/>
      </a:accent5>
      <a:accent6>
        <a:srgbClr val="F4C95D"/>
      </a:accent6>
      <a:hlink>
        <a:srgbClr val="2E9C8F"/>
      </a:hlink>
      <a:folHlink>
        <a:srgbClr val="7A8C8E"/>
      </a:folHlink>
    </a:clrScheme>
    <a:fontScheme name="Storefront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인터넷 사업 101</dc:title>
  <dc:subject>PptxGenJS Presentation</dc:subject>
  <dc:creator>PptxGenJS</dc:creator>
  <cp:lastModifiedBy>PptxGenJS</cp:lastModifiedBy>
  <cp:revision>1</cp:revision>
  <dcterms:created xsi:type="dcterms:W3CDTF">2026-10-30T04:14:18Z</dcterms:created>
  <dcterms:modified xsi:type="dcterms:W3CDTF">2026-10-30T04:14:18Z</dcterms:modified>
</cp:coreProperties>
</file>