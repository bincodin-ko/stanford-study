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63d94e9-4a95-2e85-edec-b3671973b1a0}">
          <p14:sldIdLst>
            <p14:sldId id="256"/>
            <p14:sldId id="257"/>
          </p14:sldIdLst>
        </p14:section>
        <p14:section name="큰 그림" id="{0b072d4d-56cf-87ea-f403-bf4c236c7128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e6c96a71-0871-48e5-512f-396aad435835}">
          <p14:sldIdLst>
            <p14:sldId id="263"/>
            <p14:sldId id="264"/>
          </p14:sldIdLst>
        </p14:section>
        <p14:section name="운영하기" id="{953460ff-844e-9abc-739e-22819b577e6c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9b91fadc-bde1-b8fc-79bf-505f14c232ea}">
          <p14:sldIdLst>
            <p14:sldId id="275"/>
            <p14:sldId id="276"/>
          </p14:sldIdLst>
        </p14:section>
        <p14:section name="실전" id="{165d80f5-ec1e-2806-c201-d19ad1e3ed62}">
          <p14:sldIdLst>
            <p14:sldId id="277"/>
          </p14:sldIdLst>
        </p14:section>
        <p14:section name="여러 가지 사이트 사업" id="{51993a81-8948-d3a8-9dcf-3856a9f03a0e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더 넓은 분류" id="{86a4f48e-e476-9a25-4735-a198b168010a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문의·광고 받기" id="{a7530f15-cf24-a070-51b1-f9130aa415ff}">
          <p14:sldIdLst>
            <p14:sldId id="292"/>
            <p14:sldId id="293"/>
            <p14:sldId id="294"/>
            <p14:sldId id="295"/>
            <p14:sldId id="296"/>
          </p14:sldIdLst>
        </p14:section>
        <p14:section name="마케팅 실전" id="{6dcba8fd-61b7-497d-573a-7663acc80897}">
          <p14:sldIdLst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도메인" id="{b29d9cc2-bdb5-968b-8b58-4e572547416b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출시 준비" id="{7b81c9d1-99cf-3c73-5bbe-ce5c25c03add}">
          <p14:sldIdLst>
            <p14:sldId id="310"/>
            <p14:sldId id="311"/>
            <p14:sldId id="312"/>
            <p14:sldId id="313"/>
            <p14:sldId id="314"/>
          </p14:sldIdLst>
        </p14:section>
        <p14:section name="결제·게임 서버·어뷰징" id="{d2754472-b531-cdb4-fa12-7c1176adf165}">
          <p14:sldIdLst>
            <p14:sldId id="315"/>
            <p14:sldId id="316"/>
            <p14:sldId id="317"/>
            <p14:sldId id="318"/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월 1만 원 구독 서비스 (예시)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구독료</c:v>
                  </c:pt>
                  <c:pt idx="1">
                    <c:v>적게 쓰는 손님 AI 비용</c:v>
                  </c:pt>
                  <c:pt idx="2">
                    <c:v>많이 쓰는 손님 AI 비용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3000</c:v>
                </c:pt>
                <c:pt idx="2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더 넓은 분류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분류 지도 · 셀러 · 크리에이터 · 앱 · 지식·외주 · 중개 플랫폼 · AI · 규제 업종 — 22–29장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사업을 나누는 6가지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누구에게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B2C · B2B · C2C · B2G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실물 · 디지털 · 서비스 · 소프트웨어 · 콘텐츠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어떻게 버나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판매 · 구독 · 수수료 · 광고 · 후원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누가 만드나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운영자 · 회원 · 판매자 · AI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324612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어디서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사이트 / 남의 플랫폼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03504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788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규제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신고만 / 등록·허가 / 금지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아이디어는 6칸을 채워 보며 위험을 찾는다 (22장)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오픈마켓 셀러와 크리에이터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sc0"/>
          <p:cNvSpPr/>
          <p:nvPr/>
        </p:nvSpPr>
        <p:spPr>
          <a:xfrm>
            <a:off x="45720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오픈마켓 셀러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23장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손님은 이미 있음, 대신 수수료·경쟁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사입 · 위탁판매 · 구매대행 · 내 브랜드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마켓 안 검색 최적화 + 수수료 뺀 마진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배송 기한·CS 점수 관리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sc1"/>
          <p:cNvSpPr/>
          <p:nvPr/>
        </p:nvSpPr>
        <p:spPr>
          <a:xfrm>
            <a:off x="466344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크리에이터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24장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콘텐츠 = 제품, 업로드 = 배포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광고 배분 + 후원·멤버십 + 협찬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협찬은 반드시 광고 표시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원본 백업 · 2단계 인증 · 팬을 내 채널로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앱은 웹보다 업데이트가 어렵다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올려도 마켓 심사를 통과해야 나감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되돌리기 불가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이미 깔린 버전은 되돌릴 수 없음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옛 버전 공존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업데이트 안 한 사람이 계속 남음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82296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그래서 쓰는 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단계적 출시 · 베타 테스트 · 기능 플래그 · 서버에서 설정 바꾸기 · 강제 업데이트 · 크래시 리포트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디지털 상품 결제엔 앱 마켓 수수료 15–30% (조건에 따라)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지식·외주 판매와 중개 플랫폼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지식·외주 (26장)</a:t>
            </a:r>
            <a:endParaRPr lang="en-US" sz="1600" dirty="0"/>
          </a:p>
        </p:txBody>
      </p:sp>
      <p:sp>
        <p:nvSpPr>
          <p:cNvPr id="4" name="badge1"/>
          <p:cNvSpPr/>
          <p:nvPr/>
        </p:nvSpPr>
        <p:spPr>
          <a:xfrm>
            <a:off x="457200" y="16916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45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디지털 상품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 번 만들어 계속 판매</a:t>
            </a:r>
            <a:endParaRPr lang="en-US" sz="1500" dirty="0"/>
          </a:p>
        </p:txBody>
      </p:sp>
      <p:sp>
        <p:nvSpPr>
          <p:cNvPr id="7" name="badge2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강의·코칭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만들기 전 사전 신청으로 수요 확인</a:t>
            </a:r>
            <a:endParaRPr lang="en-US" sz="1500" dirty="0"/>
          </a:p>
        </p:txBody>
      </p:sp>
      <p:sp>
        <p:nvSpPr>
          <p:cNvPr id="10" name="badge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외주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계약서: 범위·수정 횟수·저작권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중개 플랫폼 (27장)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한쪽 먼저, 좁은 지역·분야부터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 장치: 본인 확인·리뷰·안전결제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탈중개(직거래) 막을 혜택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구인구직·결혼중개·숙박·의료는 업종별 신고·등록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AI 서비스: 쓸 때마다 원가가 나간다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운영 체크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606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사용량 제한·과금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틀린 답(환각)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모델 바뀌면 테스트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입력 정보 외부 전송 고지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생성물 표시 (AI 기본법)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 전에 확인할 규제 업종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4" name="reg0"/>
          <p:cNvSpPr/>
          <p:nvPr/>
        </p:nvSpPr>
        <p:spPr>
          <a:xfrm>
            <a:off x="640080" y="1344168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188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신고 정도면 시작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188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일반 쇼핑몰 · 정보 사이트 · 템플릿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1993392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reg1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19933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추가 신고·등록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건강기능식품 · 직업소개 · 위치정보 · 게임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798064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reg2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2798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허가·라이선스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980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결제·송금 · 투자자문 · 가상자산 · 의료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602736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reg3"/>
          <p:cNvSpPr/>
          <p:nvPr/>
        </p:nvSpPr>
        <p:spPr>
          <a:xfrm>
            <a:off x="640080" y="3758184"/>
            <a:ext cx="365760" cy="36576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온라인 판매 금지·제한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60273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의약품 · 담배 · 주류(일부 예외) · 도수 렌즈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애매하면 정부24에서 업종 인허가 검색, 관계 기관·전문가에게 확인 (29장)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문의·광고 받기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문의 창구 · 도메인 이메일 · 스팸함 피하기 · 광고 메일 규칙 · 광고·제휴 문의 — 30–31장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시작은 도메인 이메일 1개 + 문의 폼 1개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문의 창구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이메일 — 모든 사업의 기본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문의 폼 — 필요한 정보만, 스팸 막기 쉬움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1:1 게시판 · 카카오톡 채널 · 채팅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앱 안 문의 · 마켓 문의 기능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창구가 많을수록 놓치는 문의도 늘어남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용도별 주소 (한 메일함으로 모으기)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1783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help@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783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일반 문의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ads@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광고·제휴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889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privacy@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개인정보 요청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291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report@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 게시물 신고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794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billing@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결제·환불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스팸함에 안 빠지게: SPF · DKIM · DMARC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MX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우편함 위치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어느 서버가 메일을 받나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SPF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보내는 우체국 명단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내 이름으로 보내도 되는 서버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DKIM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봉투의 도장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중간에 안 바뀌었다는 서명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DMARC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처리 지침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검사 실패 메일을 어떻게 할지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설정 팁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값은 내 메일 서비스가 알려 주는 그대로 · SPF는 도메인당 하나(합치기) · DMARC는 p=none으로 시작해 단계적으로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대량 발송 규칙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하루 약 5,000통 이상이면 세 가지 모두 + 원클릭 수신거부 + 스팸 신고율 0.3% 미만 (Gmail·Yahoo)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 메일·문자를 보낼 때 5가지 규칙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234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사전 동의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1430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약관에 섞지 말고 선택 항목으로 따로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57200" y="1801368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8013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(광고) 표시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8013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제목·문자 맨 앞에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459736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97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쉬운 수신거부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4597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로그인 요구 등 방해 금지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118104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2095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181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야간 별도 동의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1181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흔히 21시~다음 날 8시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57200" y="3776472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594360" y="386791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2년마다 확인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7764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계속 받을지 다시 묻기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주문 안내 같은 거래 메일에 광고를 섞지 않기 — 정보통신망법 제50조 (30장)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광고·제휴 문의 받기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준비물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문의 페이지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ads@ 전용 주소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미디어킷: 방문자 숫자 · 독자 특징 · 상품 · 가격 · 원칙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진행 순서</a:t>
            </a:r>
            <a:endParaRPr lang="en-US" sz="1600" dirty="0"/>
          </a:p>
        </p:txBody>
      </p:sp>
      <p:sp>
        <p:nvSpPr>
          <p:cNvPr id="6" name="badge1"/>
          <p:cNvSpPr/>
          <p:nvPr/>
        </p:nvSpPr>
        <p:spPr>
          <a:xfrm>
            <a:off x="3291840" y="164592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9184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16276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광고주 확인</a:t>
            </a:r>
            <a:endParaRPr lang="en-US" sz="1300" dirty="0"/>
          </a:p>
        </p:txBody>
      </p:sp>
      <p:sp>
        <p:nvSpPr>
          <p:cNvPr id="9" name="badge2"/>
          <p:cNvSpPr/>
          <p:nvPr/>
        </p:nvSpPr>
        <p:spPr>
          <a:xfrm>
            <a:off x="3291840" y="2075688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견적 · 계약</a:t>
            </a:r>
            <a:endParaRPr lang="en-US" sz="1300" dirty="0"/>
          </a:p>
        </p:txBody>
      </p:sp>
      <p:sp>
        <p:nvSpPr>
          <p:cNvPr id="12" name="badge3"/>
          <p:cNvSpPr/>
          <p:nvPr/>
        </p:nvSpPr>
        <p:spPr>
          <a:xfrm>
            <a:off x="3291840" y="2505456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9184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87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선불 결제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3291840" y="2935224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소재 검수</a:t>
            </a:r>
            <a:endParaRPr lang="en-US" sz="1300" dirty="0"/>
          </a:p>
        </p:txBody>
      </p:sp>
      <p:sp>
        <p:nvSpPr>
          <p:cNvPr id="18" name="badge5"/>
          <p:cNvSpPr/>
          <p:nvPr/>
        </p:nvSpPr>
        <p:spPr>
          <a:xfrm>
            <a:off x="3291840" y="336499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918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03320" y="3346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 표시 게재</a:t>
            </a:r>
            <a:endParaRPr lang="en-US" sz="1300" dirty="0"/>
          </a:p>
        </p:txBody>
      </p:sp>
      <p:sp>
        <p:nvSpPr>
          <p:cNvPr id="21" name="badge6"/>
          <p:cNvSpPr/>
          <p:nvPr/>
        </p:nvSpPr>
        <p:spPr>
          <a:xfrm>
            <a:off x="3291840" y="379476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918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776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결과 보고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852160" y="1188720"/>
            <a:ext cx="2834640" cy="320040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거절할 광고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불법 도박 · 토토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성인물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수익 보장 투자 · 코인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의약품 효능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광고 표시 없이 해 달라는 요청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백링크 판매 · 수상한 첨부 파일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마케팅 실전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인스타그램 시작하기 · 광고 예산 · 네이버·당근 · 실제 사례 10가지 · 90일 계획 — 32–33장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 첫날: 프로필부터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435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프로페셔널 계정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통계·광고·연락처 버튼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9659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/>
          <p:nvPr/>
        </p:nvSpPr>
        <p:spPr>
          <a:xfrm>
            <a:off x="594360" y="21031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208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소개 글 3줄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누구를 위한 / 무엇을 / 지금 할 행동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7432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/>
          <p:nvPr/>
        </p:nvSpPr>
        <p:spPr>
          <a:xfrm>
            <a:off x="594360" y="28803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98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링크 + UTM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인스타에서 온 손님을 따로 세기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35204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753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하이라이트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후기 · FAQ · 이벤트 · 배송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콘텐츠 3종류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1828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절반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도움 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저장·공유로 새 사람에게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5786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1/3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25786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믿음 주는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과정·후기·대표 이야기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3284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조금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3284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사게 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신제품·할인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판매 글만 있는 계정은 팔로우할 이유가 없다 (32장)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인스타그램이 보는 3가지 신호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시청 시간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끝까지 보나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평균 시청 시간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좋아요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팔로워에게 퍼지는 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도달 대비 좋아요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보내기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모르는 사람에게 퍼지는 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인사이트: 도달 대비 보내기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영상 팁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첫 1~2초에 결론 · 자막 필수 · 한 영상 한 메시지 · "친구에게 보내 주세요"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해시태그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2025년 12월부터 5개 제한 보도 → 캡션 첫 줄과 영상 속 단어가 더 중요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기준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인스타그램 책임자 애덤 모세리, 2025년 1월 발표 (보도 기준)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메타 광고 첫 예산 계산법 (업계 경험칙)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754880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하루 예산 ≈ 목표 전환 1건 비용 × 50 ÷ 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예) 구매 1건 1만 원 목표 → 하루 약 7만 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34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약 7일에 최적화 이벤트 50회 = 학습 끝이라는 업계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부담되면 목표를 앞 단계(장바구니·상세 보기)로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반응 좋았던 릴스를 광고 소재로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1주는 자주 건드리지 않기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광고 구조</a:t>
            </a:r>
            <a:endParaRPr lang="en-US" sz="1600" dirty="0"/>
          </a:p>
        </p:txBody>
      </p:sp>
      <p:sp>
        <p:nvSpPr>
          <p:cNvPr id="9" name="adlvl0"/>
          <p:cNvSpPr/>
          <p:nvPr/>
        </p:nvSpPr>
        <p:spPr>
          <a:xfrm>
            <a:off x="5669280" y="1828800"/>
            <a:ext cx="2743200" cy="640080"/>
          </a:xfrm>
          <a:prstGeom prst="roundRect">
            <a:avLst>
              <a:gd name="adj" fmla="val 8571"/>
            </a:avLst>
          </a:prstGeom>
          <a:solidFill>
            <a:srgbClr val="1F4E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0644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캠페인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</a:t>
            </a:r>
            <a:endParaRPr lang="en-US" sz="1400" dirty="0"/>
          </a:p>
        </p:txBody>
      </p:sp>
      <p:sp>
        <p:nvSpPr>
          <p:cNvPr id="11" name="adlvl1"/>
          <p:cNvSpPr/>
          <p:nvPr/>
        </p:nvSpPr>
        <p:spPr>
          <a:xfrm>
            <a:off x="5852160" y="2606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2E9C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세트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누구에게 · 얼마 · 언제</a:t>
            </a:r>
            <a:endParaRPr lang="en-US" sz="1400" dirty="0"/>
          </a:p>
        </p:txBody>
      </p:sp>
      <p:sp>
        <p:nvSpPr>
          <p:cNvPr id="13" name="adlvl2"/>
          <p:cNvSpPr/>
          <p:nvPr/>
        </p:nvSpPr>
        <p:spPr>
          <a:xfrm>
            <a:off x="6035040" y="338328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08A3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722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영상 · 이미지 ·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 동네 장사: 네이버 · 당근 · 카카오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네이버 스마트플레이스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정보·사진·메뉴 최신으로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진짜 손님 리뷰를 꾸준히 + 사장님 답글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리뷰·저장 구매(어뷰징) 금지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블로그 · 체험단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작은 세부 키워드부터 공략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"제품을 제공받아 작성"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키워드 전략은 내가 정하기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당근 · 카카오 채널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당근 비즈프로필: 동네 소식·쿠폰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카카오 채널: 재방문 쿠폰·예약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메시지는 수신 동의 규칙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실제 사례: 처음에 무엇을 했나</a:t>
            </a:r>
            <a:endParaRPr lang="en-US" sz="2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처음에 한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배울 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배달의민족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길거리 전단지를 주워 가게 정보 입력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처음엔 손으로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당근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판교 회사 사내 장터 → 동네 인증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좁게 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무신사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스니커즈 마니아 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팬이 먼저, 상품은 나중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오늘의집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온라인 집들이 사진 + 구매 버튼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즐겨 보는 콘텐츠에 구매 연결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모닝 브루 · 드롭박스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 칸 / 친구 초대하면 용량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공유가 제품 안에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워들 · 어몽어스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이모지 공유 카드 / 스트리머 방송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사람 있는 곳으로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듀오링고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부엉이 마스코트를 캐릭터로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브랜드에 성격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성공 사례만 기사가 된다(생존자 편향) — 방법보다 원리를 가져오기 (33장)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90일 실행 계획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1~4주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씨앗 뿌리기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도움 되는 콘텐츠 주 3~5개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손님 30명에게 직접 연락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후기·질문 전부 모으기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5~8주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반응 찾기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상위 콘텐츠 3개 찾기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같은 주제 변형 5개 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소액 광고 테스트 · 공유 장치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9~12주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키우기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되는 채널에 집중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작은 크리에이터와 협업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이메일·카카오로 단골 만들기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매주 금요일 30분: 도달 · 링크 클릭 · 가입·구매 · 광고비 · 다음 주 실험 1개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도메인: 주소와 업계 지식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도메인 이름(사이트 주소) 고르기·연결·지키기 · 업계 지식(도메인 지식) 분야별 흐름 — 34–35장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 주소 읽기와 고르기</a:t>
            </a:r>
            <a:endParaRPr lang="en-US" sz="2800" dirty="0"/>
          </a:p>
        </p:txBody>
      </p:sp>
      <p:sp>
        <p:nvSpPr>
          <p:cNvPr id="3" name="urlbar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</a:t>
            </a:r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granolalab</a:t>
            </a:r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.co.kr</a:t>
            </a:r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/products</a:t>
            </a:r>
            <a:endParaRPr lang="en-US" sz="24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서브도메인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shop — 마음대로 추가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324612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도메인 이름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granolalab — 내가 빌린 이름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03504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TLD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.co.kr — 종류·나라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한국 손님 위주 → .kr / .co.kr, 해외도 → .com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짧고 말로 불러도 헷갈리지 않게 (하이픈·숫자 피하기)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첫해 할인보다 갱신 가격 확인 · 상표 검색 · 방어 등록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도메인은 빌리는 것: 연결하고 지키기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사자마자 할 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내 명의 · 공용 이메일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자동 갱신 ON + 카드 만료일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등록 업체 2단계 인증 · 도메인 잠금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DNS: A · CNAME(사이트), MX · TXT(메일)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바꾸기 전 DNS 설정 캡처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만료되면 (gTLD 기준, 대략)</a:t>
            </a:r>
            <a:endParaRPr lang="en-US" sz="1500" dirty="0"/>
          </a:p>
        </p:txBody>
      </p:sp>
      <p:sp>
        <p:nvSpPr>
          <p:cNvPr id="7" name="exp0"/>
          <p:cNvSpPr/>
          <p:nvPr/>
        </p:nvSpPr>
        <p:spPr>
          <a:xfrm>
            <a:off x="4800600" y="1892808"/>
            <a:ext cx="274320" cy="27432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12080" y="1783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갱신 유예 ~45일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원래 가격 갱신 가능한 경우 많음</a:t>
            </a:r>
            <a:endParaRPr lang="en-US" sz="1300" dirty="0"/>
          </a:p>
        </p:txBody>
      </p:sp>
      <p:sp>
        <p:nvSpPr>
          <p:cNvPr id="9" name="exp1"/>
          <p:cNvSpPr/>
          <p:nvPr/>
        </p:nvSpPr>
        <p:spPr>
          <a:xfrm>
            <a:off x="4800600" y="2514600"/>
            <a:ext cx="274320" cy="27432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12080" y="24048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복구 유예 ~30일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사이트·메일 멈춤, 비싼 복구비</a:t>
            </a:r>
            <a:endParaRPr lang="en-US" sz="1300" dirty="0"/>
          </a:p>
        </p:txBody>
      </p:sp>
      <p:sp>
        <p:nvSpPr>
          <p:cNvPr id="11" name="exp2"/>
          <p:cNvSpPr/>
          <p:nvPr/>
        </p:nvSpPr>
        <p:spPr>
          <a:xfrm>
            <a:off x="4800600" y="3136392"/>
            <a:ext cx="274320" cy="2743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30266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삭제 대기 ~5일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되살릴 수 없음</a:t>
            </a:r>
            <a:endParaRPr lang="en-US" sz="1300" dirty="0"/>
          </a:p>
        </p:txBody>
      </p:sp>
      <p:sp>
        <p:nvSpPr>
          <p:cNvPr id="13" name="exp3"/>
          <p:cNvSpPr/>
          <p:nvPr/>
        </p:nvSpPr>
        <p:spPr>
          <a:xfrm>
            <a:off x="4800600" y="3758184"/>
            <a:ext cx="274320" cy="27432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36484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공개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누구나 등록 가능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업계 지식(도메인 지식)이란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그 분야의 업무 흐름과 단어 — 코딩 실력이 같아도 이걸 아는 사람이 실수 없는 서비스를 만든다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6" name="badge1"/>
          <p:cNvSpPr/>
          <p:nvPr/>
        </p:nvSpPr>
        <p:spPr>
          <a:xfrm>
            <a:off x="594360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용어집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내 말로 단어 정리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2130552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267712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67712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흐름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돈·물건·정보의 이동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3803904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941064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41064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41064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상태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주문이 거치는 모든 상태</a:t>
            </a:r>
            <a:endParaRPr lang="en-US" sz="1300" dirty="0"/>
          </a:p>
        </p:txBody>
      </p:sp>
      <p:sp>
        <p:nvSpPr>
          <p:cNvPr id="17" name="card"/>
          <p:cNvSpPr/>
          <p:nvPr/>
        </p:nvSpPr>
        <p:spPr>
          <a:xfrm>
            <a:off x="5477256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8" name="badge4"/>
          <p:cNvSpPr/>
          <p:nvPr/>
        </p:nvSpPr>
        <p:spPr>
          <a:xfrm>
            <a:off x="5614416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14416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614416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예외 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중간 취소? 부분 환불?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7150608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2" name="badge5"/>
          <p:cNvSpPr/>
          <p:nvPr/>
        </p:nvSpPr>
        <p:spPr>
          <a:xfrm>
            <a:off x="7287768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87768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7768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현장에 묻기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CS·정산 담당의 고민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개발에선 DDD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공통 언어(현업과 같은 단어를 코드에) · 영역 나누기(같은 '주문'도 판매팀·물류팀에서 뜻이 다름)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①: 주문과 결제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쇼핑몰 주문 상태</a:t>
            </a:r>
            <a:endParaRPr lang="en-US" sz="1500" dirty="0"/>
          </a:p>
        </p:txBody>
      </p:sp>
      <p:sp>
        <p:nvSpPr>
          <p:cNvPr id="4" name="ord0"/>
          <p:cNvSpPr/>
          <p:nvPr/>
        </p:nvSpPr>
        <p:spPr>
          <a:xfrm>
            <a:off x="45720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결제 완료</a:t>
            </a:r>
            <a:endParaRPr lang="en-US" sz="1300" dirty="0"/>
          </a:p>
        </p:txBody>
      </p:sp>
      <p:sp>
        <p:nvSpPr>
          <p:cNvPr id="6" name="ord1"/>
          <p:cNvSpPr/>
          <p:nvPr/>
        </p:nvSpPr>
        <p:spPr>
          <a:xfrm>
            <a:off x="1847088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47088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상품 준비</a:t>
            </a:r>
            <a:endParaRPr lang="en-US" sz="1300" dirty="0"/>
          </a:p>
        </p:txBody>
      </p:sp>
      <p:sp>
        <p:nvSpPr>
          <p:cNvPr id="8" name="ord2"/>
          <p:cNvSpPr/>
          <p:nvPr/>
        </p:nvSpPr>
        <p:spPr>
          <a:xfrm>
            <a:off x="3236976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36976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출고</a:t>
            </a:r>
            <a:endParaRPr lang="en-US" sz="1300" dirty="0"/>
          </a:p>
        </p:txBody>
      </p:sp>
      <p:sp>
        <p:nvSpPr>
          <p:cNvPr id="10" name="ord3"/>
          <p:cNvSpPr/>
          <p:nvPr/>
        </p:nvSpPr>
        <p:spPr>
          <a:xfrm>
            <a:off x="4626864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6864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중</a:t>
            </a:r>
            <a:endParaRPr lang="en-US" sz="1300" dirty="0"/>
          </a:p>
        </p:txBody>
      </p:sp>
      <p:sp>
        <p:nvSpPr>
          <p:cNvPr id="12" name="ord4"/>
          <p:cNvSpPr/>
          <p:nvPr/>
        </p:nvSpPr>
        <p:spPr>
          <a:xfrm>
            <a:off x="6016752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16752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완료</a:t>
            </a:r>
            <a:endParaRPr lang="en-US" sz="1300" dirty="0"/>
          </a:p>
        </p:txBody>
      </p:sp>
      <p:sp>
        <p:nvSpPr>
          <p:cNvPr id="14" name="ord5"/>
          <p:cNvSpPr/>
          <p:nvPr/>
        </p:nvSpPr>
        <p:spPr>
          <a:xfrm>
            <a:off x="740664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F08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구매 확정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예외 규칙 미리: 출고 전 취소 → 즉시 환불 · 출고 후 → 반품 전환 · 부분 반품 시 쿠폰·배송비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카드 결제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45720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승인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결제 가능 확인 (돈은 아직)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324612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900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매입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청구 확정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603504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수수료 빼고 D+N일 입금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결제 핵심 설계: 멱등성(두 번 눌러도 한 번만) · 매일 PG 내역과 주문 대사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②: 분야별 꼭 알 단어</a:t>
            </a:r>
            <a:endParaRPr lang="en-US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분야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꼭 알 흐름·단어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물류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입고 → 피킹 → 패킹 → 출고 → 배송 · 송장 · 합포장 · 3PL vs 풀필먼트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광고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광고주 DSP ↔ 익스체인지(RTB 경매) ↔ SSP 퍼블리셔 · 어트리뷰션 · 퍼스트파티 데이터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BM(F2P·패스·가챠) · 라이브 옵스 · ARPPU · 리텐션 · 치팅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구독·SaaS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트라이얼 → 유료 전환 · 프로레이션 · 더닝(결제 실패 재시도) · 멀티 테넌시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예약·O2O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슬롯 = 재고(지나면 소멸) · 노쇼 · 예약금 · 동시 예약 충돌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금융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KYC · AML · 원장(덮어쓰지 않기) · 대사 · 이상 거래 탐지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분야는 7칸 표(누가·돈 흐름·상태·예외·지표·규제·용어 20개)를 채우며 공부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출시 준비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서버·호스팅 고르기 · 꼭 해야 하는 보안 · 출시 전 Claude에게 요청할 30가지 — 36–38장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서버·호스팅: 사이트 종류로 고른다</a:t>
            </a:r>
            <a:endParaRPr lang="en-US" sz="2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 종류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추천 출발점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내가 할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국내 쇼핑몰 빌더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 (업체가 대부분 처리)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소개·랜딩·계산기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정적 호스팅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Git에 올리면 자동 배포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블로그·정보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 서비스 · 워드프레스 호스팅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플러그인 업데이트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회원제·AI 서비스 MVP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PaaS + 관리형 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코드만, 서버 관리는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실시간 게임·큰 서비스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VPS · 대형 클라우드 (서울 리전)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보안·백업·비용 전부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03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무료 요금제 함정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상업 사용 금지 · 잠자는 서버 · 한도 초과 정지 · 유료는 요금 폭탄 → 예산 알림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개인정보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해외 서버에 회원 정보 → 처리방침에 국외 이전 고지가 필요할 수 있음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꼭 해야 하는 보안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OWASP Top 10 (2025) 상위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83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접근 권한 실패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남의 주문이 주소만 바꿔 보임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404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보안 설정 오류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기본 비번·디버그 모드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266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2666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공급망 실패 (신규)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오염·오래된 라이브러리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6484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484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예외 처리 실패 (신규)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오류 화면에 내부 정보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누구나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6002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모든 관리자 계정 2단계 인증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공유 계정 금지 · 필요한 권한만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HTTPS · 업데이트 · 백업 · 도메인 잠금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직접 개발이면 추가로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31546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매 요청 주인 확인 · 금액은 서버에서 계산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해시 · 자리표시자 · 보안 헤더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비밀 키는 환경 변수 · 로그와 알림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개인정보 접속기록은 원칙 1년 이상(조건에 따라 2년) 보관 · 유출 의심 시 확산 차단 → 증거 보존 → 신고 (37장)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출시 전 Claude에게 요청할 30가지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2179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첫인상·전환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화면 CTA 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모바일 고정 버튼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신뢰 요소 · FAQ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문의 답변 시간 표시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2491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검색 노출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72491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페이지마다 다른 제목·설명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h1 · alt · 내부 링크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robots.txt · 사이트맵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구조화된 데이터 · 404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2803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공유·측정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OG 태그 썸네일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파비콘 · 공유 버튼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GA4 핵심 이벤트 · UTM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서치 콘솔 · 서치어드바이저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3115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법·품질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3115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처리방침 · 사업자 푸터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동의 분리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코어 웹 바이탈 · 접근성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보안 · 스팸 방지 · 모니터링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38장 요청문을 복사해 보내고, PageSpeed · 리치 결과 테스트 · 서치 콘솔 · 카카오 디버거로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출시 직전 자주 하는 실수 4가지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075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robots.txt로 숨기기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숨기기 도구가 아님 → noindex 또는 비밀번호. 운영 사이트 전체 Disallow 실수 확인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57200" y="196596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213055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가짜 404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6596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화면만 404, 상태 코드는 200 (소프트 404) → 실제 404 코드로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78892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9535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889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카톡 썸네일이 안 바뀜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78892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카카오 캐시 → 공유 디버거 초기화, 이미지 주소에 ?v=2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361188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6118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화면과 다른 구조화된 데이터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61188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가짜 별점·없는 정보 표시는 스팸 정책 위반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코어 웹 바이탈 좋음 기준: LCP ≤ 2.5초 · INP ≤ 200ms · CLS ≤ 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결제·게임 서버·어뷰징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결제 연동과 정산 · 롤·배그 같은 멀티플레이 서버 · 어뷰징·핵 대응 — 39–41장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결제 연동: 서버에서 검증하고 승인한다</a:t>
            </a:r>
            <a:endParaRPr lang="en-US" sz="2800" dirty="0"/>
          </a:p>
        </p:txBody>
      </p:sp>
      <p:sp>
        <p:nvSpPr>
          <p:cNvPr id="3" name="pay0"/>
          <p:cNvSpPr/>
          <p:nvPr/>
        </p:nvSpPr>
        <p:spPr>
          <a:xfrm>
            <a:off x="457200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1F4E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주문 저장</a:t>
            </a:r>
            <a:endParaRPr lang="en-US" sz="1300" dirty="0"/>
          </a:p>
        </p:txBody>
      </p:sp>
      <p:sp>
        <p:nvSpPr>
          <p:cNvPr id="5" name="pay1"/>
          <p:cNvSpPr/>
          <p:nvPr/>
        </p:nvSpPr>
        <p:spPr>
          <a:xfrm>
            <a:off x="1847088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1F4E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47088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결제창</a:t>
            </a:r>
            <a:endParaRPr lang="en-US" sz="1300" dirty="0"/>
          </a:p>
        </p:txBody>
      </p:sp>
      <p:sp>
        <p:nvSpPr>
          <p:cNvPr id="7" name="pay2"/>
          <p:cNvSpPr/>
          <p:nvPr/>
        </p:nvSpPr>
        <p:spPr>
          <a:xfrm>
            <a:off x="3236976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1F4E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36976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성공 주소</a:t>
            </a:r>
            <a:endParaRPr lang="en-US" sz="1300" dirty="0"/>
          </a:p>
        </p:txBody>
      </p:sp>
      <p:sp>
        <p:nvSpPr>
          <p:cNvPr id="9" name="pay3"/>
          <p:cNvSpPr/>
          <p:nvPr/>
        </p:nvSpPr>
        <p:spPr>
          <a:xfrm>
            <a:off x="4626864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F08A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6864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★ 금액 검증</a:t>
            </a:r>
            <a:endParaRPr lang="en-US" sz="1300" dirty="0"/>
          </a:p>
        </p:txBody>
      </p:sp>
      <p:sp>
        <p:nvSpPr>
          <p:cNvPr id="11" name="pay4"/>
          <p:cNvSpPr/>
          <p:nvPr/>
        </p:nvSpPr>
        <p:spPr>
          <a:xfrm>
            <a:off x="6016752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F08A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16752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★ 서버 승인</a:t>
            </a:r>
            <a:endParaRPr lang="en-US" sz="1300" dirty="0"/>
          </a:p>
        </p:txBody>
      </p:sp>
      <p:sp>
        <p:nvSpPr>
          <p:cNvPr id="13" name="pay5"/>
          <p:cNvSpPr/>
          <p:nvPr/>
        </p:nvSpPr>
        <p:spPr>
          <a:xfrm>
            <a:off x="7406640" y="1188720"/>
            <a:ext cx="1261872" cy="685800"/>
          </a:xfrm>
          <a:prstGeom prst="roundRect">
            <a:avLst>
              <a:gd name="adj" fmla="val 10667"/>
            </a:avLst>
          </a:prstGeom>
          <a:solidFill>
            <a:srgbClr val="1F4E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1188720"/>
            <a:ext cx="1261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결과 저장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214884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14884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금액 검증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브라우저 값은 조작 가능 → DB 금액과 같을 때만 승인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4663440" y="214884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214884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비밀 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승인은 서버에서, 시크릿 키는 환경 변수에만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457200" y="324612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2461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웹훅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출처 확인 · 같은 알림 한 번만 · 빨리 200 응답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4663440" y="3246120"/>
            <a:ext cx="40233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46320" y="32461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예외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두 번 클릭 · DB 저장 실패 시 자동 취소 · 부분 취소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PG 계약은 업종 심사가 먼저 · 개발은 테스트 키로 먼저 (39장)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대사와 정산: 돈을 매일 맞춰 본다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매일 대사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PG 거래 내역 vs 우리 DB를 주문번호로 짝 맞추기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PG엔 있고 DB엔 없음 = 돈 받고 주문 누락 (가장 위험)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DB엔 있고 PG엔 없음 = 돈 안 들어온 주문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정산일엔 매출 − 취소 − 수수료 확인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플랫폼이라면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0020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판매자별 정산 원장 (덮어쓰지 않고 추가만)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PG 지급대행으로 판매자에게 지급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약속한 정산일은 반드시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754880" y="3063240"/>
            <a:ext cx="39319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10896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티메프 사태 이후 정부 확정안 (2024.10)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대형 중개 플랫폼: 구매 확정 후 20일 내 정산, 판매대금 50% 이상 별도 관리 (시행일은 확인 필요)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멀티플레이 게임 뒤의 서버들</a:t>
            </a:r>
            <a:endParaRPr lang="en-US" sz="2800" dirty="0"/>
          </a:p>
        </p:txBody>
      </p:sp>
      <p:sp>
        <p:nvSpPr>
          <p:cNvPr id="3" name="gs0"/>
          <p:cNvSpPr/>
          <p:nvPr/>
        </p:nvSpPr>
        <p:spPr>
          <a:xfrm>
            <a:off x="457200" y="11887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1F4E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백엔드 서비스</a:t>
            </a:r>
            <a:endParaRPr lang="en-US" sz="1700" dirty="0"/>
          </a:p>
        </p:txBody>
      </p:sp>
      <p:sp>
        <p:nvSpPr>
          <p:cNvPr id="5" name="card"/>
          <p:cNvSpPr/>
          <p:nvPr/>
        </p:nvSpPr>
        <p:spPr>
          <a:xfrm>
            <a:off x="45720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로그인 · 친구 · 채팅 · 상점 · 전적 · 매치메이킹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일반 웹처럼, 조금 늦어도 OK</a:t>
            </a:r>
            <a:endParaRPr lang="en-US" sz="1300" dirty="0"/>
          </a:p>
        </p:txBody>
      </p:sp>
      <p:sp>
        <p:nvSpPr>
          <p:cNvPr id="7" name="gs1"/>
          <p:cNvSpPr/>
          <p:nvPr/>
        </p:nvSpPr>
        <p:spPr>
          <a:xfrm>
            <a:off x="3246120" y="11887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08A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188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전용 게임 서버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324612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한 판의 실제 게임 진행 · 서버가 모든 판정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초당 수십~128번 계산 · UDP</a:t>
            </a:r>
            <a:endParaRPr lang="en-US" sz="1300" dirty="0"/>
          </a:p>
        </p:txBody>
      </p:sp>
      <p:sp>
        <p:nvSpPr>
          <p:cNvPr id="11" name="gs2"/>
          <p:cNvSpPr/>
          <p:nvPr/>
        </p:nvSpPr>
        <p:spPr>
          <a:xfrm>
            <a:off x="6035040" y="11887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2E9C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1887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오케스트레이션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603504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필요한 만큼 게임 서버 켜고 끄고 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Agones · GameLift 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틱 레이트는 비용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발로란트 128틱 = 7.8ms마다 계산 · 틱을 2배로 = 서버 비용도 약 2배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지연을 숨기는 4가지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904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887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클라이언트 예측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입력을 서버 답 전에 화면에 바로 반영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/>
          <p:nvPr/>
        </p:nvSpPr>
        <p:spPr>
          <a:xfrm>
            <a:off x="4846320" y="14904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463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1887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서버 보정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서버 결과와 다르면 맞추고 남은 입력 다시 적용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57200" y="2331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/>
          <p:nvPr/>
        </p:nvSpPr>
        <p:spPr>
          <a:xfrm>
            <a:off x="640080" y="26334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317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엔티티 보간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다른 플레이어는 약간 과거 위치를 부드럽게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4663440" y="2331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/>
          <p:nvPr/>
        </p:nvSpPr>
        <p:spPr>
          <a:xfrm>
            <a:off x="4846320" y="26334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3317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지연 보상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쏜 순간으로 시간을 되감아 명중 판정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기본 원칙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서버 권위 — 클라이언트는 입력만 보내고 판정은 서버가 · 격투 게임은 롤백 넷코드, MOBA는 결정론적 시뮬레이션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어뷰징·핵: 4단계로 대응</a:t>
            </a:r>
            <a:endParaRPr lang="en-US" sz="2800" dirty="0"/>
          </a:p>
        </p:txBody>
      </p:sp>
      <p:sp>
        <p:nvSpPr>
          <p:cNvPr id="3" name="ab0"/>
          <p:cNvSpPr/>
          <p:nvPr/>
        </p:nvSpPr>
        <p:spPr>
          <a:xfrm>
            <a:off x="457200" y="118872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F08A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설계로 막기</a:t>
            </a:r>
            <a:endParaRPr lang="en-US" sz="1400" dirty="0"/>
          </a:p>
        </p:txBody>
      </p:sp>
      <p:sp>
        <p:nvSpPr>
          <p:cNvPr id="5" name="ab1"/>
          <p:cNvSpPr/>
          <p:nvPr/>
        </p:nvSpPr>
        <p:spPr>
          <a:xfrm>
            <a:off x="2560320" y="118872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56032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입구에서 막기</a:t>
            </a:r>
            <a:endParaRPr lang="en-US" sz="1400" dirty="0"/>
          </a:p>
        </p:txBody>
      </p:sp>
      <p:sp>
        <p:nvSpPr>
          <p:cNvPr id="7" name="ab2"/>
          <p:cNvSpPr/>
          <p:nvPr/>
        </p:nvSpPr>
        <p:spPr>
          <a:xfrm>
            <a:off x="4663440" y="118872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운영 중 찾기</a:t>
            </a:r>
            <a:endParaRPr lang="en-US" sz="1400" dirty="0"/>
          </a:p>
        </p:txBody>
      </p:sp>
      <p:sp>
        <p:nvSpPr>
          <p:cNvPr id="9" name="ab3"/>
          <p:cNvSpPr/>
          <p:nvPr/>
        </p:nvSpPr>
        <p:spPr>
          <a:xfrm>
            <a:off x="6766560" y="1188720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제재·개선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1965960"/>
            <a:ext cx="40233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057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서비스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4688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혜택은 첫 구매 확정 후 · 1인(본인인증) 기준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봇 차단 · 속도 제한 · 유출 비번 거절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계정 탈취엔 2단계 인증이 최고 (OWASP)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같은 기기·결제수단·주소 묶음 탐지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4663440" y="1965960"/>
            <a:ext cx="40233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057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게임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4688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서버 권위 · 보이는 정보만 전송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안티치트 (예: Riot 뱅가드, 부팅 시 시작)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비정상 명중률·재화 증가 탐지 · 신고·리플레이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핵 제작·유통, 대리 게임 업은 법적 처벌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목표는 완벽 차단이 아니라 "악용 비용 &gt; 얻는 이익" · 억울한 제재를 위한 이의 제기 창구 (41장)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2026-10-31T15:01:34Z</dcterms:created>
  <dcterms:modified xsi:type="dcterms:W3CDTF">2026-10-31T15:01:34Z</dcterms:modified>
</cp:coreProperties>
</file>