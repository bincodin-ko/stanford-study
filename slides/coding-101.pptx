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898c7b2-2b20-7d15-56c9-126750f938d9}">
          <p14:sldIdLst>
            <p14:sldId id="256"/>
            <p14:sldId id="257"/>
          </p14:sldIdLst>
        </p14:section>
        <p14:section name="준비" id="{177caccb-eac3-1215-273b-890b0bc3c507}">
          <p14:sldIdLst>
            <p14:sldId id="258"/>
            <p14:sldId id="259"/>
            <p14:sldId id="260"/>
            <p14:sldId id="261"/>
            <p14:sldId id="262"/>
          </p14:sldIdLst>
        </p14:section>
        <p14:section name="언어" id="{a36aedd0-261a-47bb-2bff-1e9ef01bb2af}">
          <p14:sldIdLst>
            <p14:sldId id="263"/>
            <p14:sldId id="264"/>
          </p14:sldIdLst>
        </p14:section>
        <p14:section name="기초" id="{3c149cd3-816a-485d-e7cf-c5f868b01182}">
          <p14:sldIdLst>
            <p14:sldId id="265"/>
            <p14:sldId id="266"/>
            <p14:sldId id="267"/>
          </p14:sldIdLst>
        </p14:section>
        <p14:section name="중급" id="{8a1399c0-8a0a-2d3e-2a42-bf66514cbcf5}">
          <p14:sldIdLst>
            <p14:sldId id="268"/>
            <p14:sldId id="269"/>
            <p14:sldId id="270"/>
            <p14:sldId id="271"/>
          </p14:sldIdLst>
        </p14:section>
        <p14:section name="실전" id="{b3945e63-7895-9881-4281-0ebdd498d396}">
          <p14:sldIdLst>
            <p14:sldId id="272"/>
            <p14:sldId id="273"/>
          </p14:sldIdLst>
        </p14:section>
        <p14:section name="고급" id="{66234520-40d4-3ef2-838e-b752bed11529}">
          <p14:sldIdLst>
            <p14:sldId id="274"/>
            <p14:sldId id="275"/>
          </p14:sldIdLst>
        </p14:section>
        <p14:section name="고수" id="{58713412-d4f0-fbf6-2df6-14e08bbaf637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B2E"/>
                </a:solidFill>
                <a:latin typeface="+mn-lt"/>
              </a:rPr>
              <a:t>응답 개발자 중 사용 비율 (2차 자료 기준)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08A3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8A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8A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자바스크립트</c:v>
                  </c:pt>
                  <c:pt idx="1">
                    <c:v>HTML/CSS</c:v>
                  </c:pt>
                  <c:pt idx="2">
                    <c:v>SQL</c:v>
                  </c:pt>
                  <c:pt idx="3">
                    <c:v>파이썬</c:v>
                  </c:pt>
                  <c:pt idx="4">
                    <c:v>셸(Bash)</c:v>
                  </c:pt>
                  <c:pt idx="5">
                    <c:v>타입스크립트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68.8</c:v>
                </c:pt>
                <c:pt idx="1">
                  <c:v>63</c:v>
                </c:pt>
                <c:pt idx="2">
                  <c:v>61.3</c:v>
                </c:pt>
                <c:pt idx="3">
                  <c:v>54.8</c:v>
                </c:pt>
                <c:pt idx="4">
                  <c:v>48.8</c:v>
                </c:pt>
                <c:pt idx="5">
                  <c:v>48.8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코딩 101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언어 종류부터 기초 · 중급 · 고급 · 고수까지 — docs/coding 요약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기초부터 고수까지 6단계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261872" cy="29260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877824" y="1463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57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준비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코딩이란 · 언어 지도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94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1–3장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1847088" y="1280160"/>
            <a:ext cx="1261872" cy="29260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10" name="badge2"/>
          <p:cNvSpPr/>
          <p:nvPr/>
        </p:nvSpPr>
        <p:spPr>
          <a:xfrm>
            <a:off x="2267712" y="1463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67712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92808" y="2057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기초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2560320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변수 · 조건 · 반복 · 함수 · 파일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92808" y="3794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4–5장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3236976" y="1280160"/>
            <a:ext cx="1261872" cy="29260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16" name="badge3"/>
          <p:cNvSpPr/>
          <p:nvPr/>
        </p:nvSpPr>
        <p:spPr>
          <a:xfrm>
            <a:off x="3657600" y="1463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82696" y="2057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중급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328416" y="2560320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객체지향 · 자료구조 · 도구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82696" y="3794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6–8장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4626864" y="1280160"/>
            <a:ext cx="1261872" cy="29260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22" name="badge4"/>
          <p:cNvSpPr/>
          <p:nvPr/>
        </p:nvSpPr>
        <p:spPr>
          <a:xfrm>
            <a:off x="5047488" y="1463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47488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72584" y="2057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실전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718304" y="2560320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웹 개발 · SQL · API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672584" y="3794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9장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6016752" y="1280160"/>
            <a:ext cx="1261872" cy="29260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28" name="badge5"/>
          <p:cNvSpPr/>
          <p:nvPr/>
        </p:nvSpPr>
        <p:spPr>
          <a:xfrm>
            <a:off x="6437376" y="1463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37376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062472" y="2057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고급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108192" y="2560320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메모리 · 동시성 · 네트워크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062472" y="3794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10장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7406640" y="1280160"/>
            <a:ext cx="1261872" cy="292608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</p:spPr>
      </p:sp>
      <p:sp>
        <p:nvSpPr>
          <p:cNvPr id="34" name="badge6"/>
          <p:cNvSpPr/>
          <p:nvPr/>
        </p:nvSpPr>
        <p:spPr>
          <a:xfrm>
            <a:off x="7827264" y="14630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27264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2057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고수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2560320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설계 · 리뷰 · 시스템 · AI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94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11–12장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읽기만 하지 말고 직접 쳐 보기 · 오류는 정상 · 작은 걸 끝까지 만들기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코딩 = 컴퓨터에게 주는 아주 자세한 요리법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CPU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요리사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명령을 하나씩 실행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6032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badge2"/>
          <p:cNvSpPr/>
          <p:nvPr/>
        </p:nvSpPr>
        <p:spPr>
          <a:xfrm>
            <a:off x="2743200" y="1417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메모리(RAM)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조리대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작업 중인 데이터. 끄면 사라짐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badge3"/>
          <p:cNvSpPr/>
          <p:nvPr/>
        </p:nvSpPr>
        <p:spPr>
          <a:xfrm>
            <a:off x="4846320" y="1417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저장장치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냉장고·창고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파일을 오래 보관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76656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2" name="badge4"/>
          <p:cNvSpPr/>
          <p:nvPr/>
        </p:nvSpPr>
        <p:spPr>
          <a:xfrm>
            <a:off x="6949440" y="1417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입출력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주문서·서빙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키보드·화면·네트워크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컴퓨터는 0과 1(비트)만 안다.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사람이 읽기 쉬운 언어로 쓰고, 번역해서 실행한다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번역 방법 3가지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컴파일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책을 미리 통째로 번역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 · C++ · Go · 러스트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실행이 빠름, 실행 전 오류 발견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인터프리터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동시통역사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파이썬 · JS · 루비 · PHP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바로 실행, 배우기 쉬움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가상 머신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공통어로 번역 후 현지 통역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자바 · C# · 코틀린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여러 운영체제에서 같은 코드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저수준 ↔ 고수준 언어</a:t>
            </a:r>
            <a:endParaRPr lang="en-US" sz="2800" dirty="0"/>
          </a:p>
        </p:txBody>
      </p:sp>
      <p:sp>
        <p:nvSpPr>
          <p:cNvPr id="3" name="lv0"/>
          <p:cNvSpPr/>
          <p:nvPr/>
        </p:nvSpPr>
        <p:spPr>
          <a:xfrm>
            <a:off x="457200" y="13716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1B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기계어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0과 1</a:t>
            </a:r>
            <a:endParaRPr lang="en-US" sz="1100" dirty="0"/>
          </a:p>
        </p:txBody>
      </p:sp>
      <p:sp>
        <p:nvSpPr>
          <p:cNvPr id="6" name="lv1"/>
          <p:cNvSpPr/>
          <p:nvPr/>
        </p:nvSpPr>
        <p:spPr>
          <a:xfrm>
            <a:off x="2130552" y="13716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1F4E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21992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어셈블리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MOV AL, 61h</a:t>
            </a:r>
            <a:endParaRPr lang="en-US" sz="1100" dirty="0"/>
          </a:p>
        </p:txBody>
      </p:sp>
      <p:sp>
        <p:nvSpPr>
          <p:cNvPr id="9" name="lv2"/>
          <p:cNvSpPr/>
          <p:nvPr/>
        </p:nvSpPr>
        <p:spPr>
          <a:xfrm>
            <a:off x="3803904" y="13716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2E9C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95344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· C++ · 러스트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메모리 직접 관리</a:t>
            </a:r>
            <a:endParaRPr lang="en-US" sz="1100" dirty="0"/>
          </a:p>
        </p:txBody>
      </p:sp>
      <p:sp>
        <p:nvSpPr>
          <p:cNvPr id="12" name="lv3"/>
          <p:cNvSpPr/>
          <p:nvPr/>
        </p:nvSpPr>
        <p:spPr>
          <a:xfrm>
            <a:off x="5477256" y="13716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4C95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68696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자바 · C# · Go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68696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자동 메모리 관리</a:t>
            </a:r>
            <a:endParaRPr lang="en-US" sz="1100" dirty="0"/>
          </a:p>
        </p:txBody>
      </p:sp>
      <p:sp>
        <p:nvSpPr>
          <p:cNvPr id="15" name="lv4"/>
          <p:cNvSpPr/>
          <p:nvPr/>
        </p:nvSpPr>
        <p:spPr>
          <a:xfrm>
            <a:off x="7150608" y="13716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08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42048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파이썬 · JS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사람 말에 가까움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← 빠르고 기계를 세밀하게 제어 · 어렵고 실수하기 쉬움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쉽고 빨리 만듦 · 상대적으로 느림 →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457200" y="34747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474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요즘은 경계가 흐려짐: 자바스크립트도 실행 중에 기계어로 바꿔(JIT) 꽤 빠르게 돌린다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많이 쓰는 언어 (2025 개발자 설문)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943600" y="1280160"/>
            <a:ext cx="2743200" cy="301752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264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TIOBE 2026년 10월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1위 파이썬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2위 C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3·4위 C++ · 자바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순위 ≠ 내가 배울 언어. 만들고 싶은 것부터 정하기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무엇을 만들고 싶은가 → 언어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웹 화면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HTML/CSS · JS · TS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342900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웹 서버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자바 · 파이썬 · Node.js · Go · PHP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621792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모바일 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코틀린 · 스위프트 · Flutter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게임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C++(언리얼) · C#(유니티)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4612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3429000" y="2926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 · AI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파이썬 · R · SQL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3504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badge6"/>
          <p:cNvSpPr/>
          <p:nvPr/>
        </p:nvSpPr>
        <p:spPr>
          <a:xfrm>
            <a:off x="6217920" y="2926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시스템 · 임베디드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· C++ · 러스트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 · C++ · C#: 이름은 비슷, 성격은 다르다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1970년대, 언어들의 할아버지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운영체제 · 임베디드 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매우 빠름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메모리를 직접 관리 → 실수 위험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난이도 ★★★★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C++ (씨쁠쁠)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 + 객체지향 + 많은 기능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게임 엔진(언리얼) · 브라우저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C만큼 빠름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기능이 많아 배우기 어려움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난이도 ★★★★★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C# (씨샵)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마이크로소프트, 자바와 닮음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유니티 게임 · 윈도우 · .NET 서버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깔끔한 문법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메모리 자동 관리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난이도 ★★★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같은 코드, 다른 말투</a:t>
            </a:r>
            <a:endParaRPr lang="en-US" sz="2800" dirty="0"/>
          </a:p>
        </p:txBody>
      </p:sp>
      <p:sp>
        <p:nvSpPr>
          <p:cNvPr id="3" name="codebox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n+1):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+= 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print(total(10))</a:t>
            </a:r>
            <a:endParaRPr lang="en-US" sz="1000" dirty="0"/>
          </a:p>
        </p:txBody>
      </p:sp>
      <p:sp>
        <p:nvSpPr>
          <p:cNvPr id="5" name="codebox"/>
          <p:cNvSpPr/>
          <p:nvPr/>
        </p:nvSpPr>
        <p:spPr>
          <a:xfrm>
            <a:off x="3246120" y="1188720"/>
            <a:ext cx="2651760" cy="237744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29000" y="1325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total(int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i=1; i&lt;=n; 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+= i;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printf("%d", total(10));</a:t>
            </a:r>
            <a:endParaRPr lang="en-US" sz="1000" dirty="0"/>
          </a:p>
        </p:txBody>
      </p:sp>
      <p:sp>
        <p:nvSpPr>
          <p:cNvPr id="7" name="codebox"/>
          <p:cNvSpPr/>
          <p:nvPr/>
        </p:nvSpPr>
        <p:spPr>
          <a:xfrm>
            <a:off x="6080760" y="1188720"/>
            <a:ext cx="2606040" cy="237744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3258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total(n)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i=1; i&lt;=n; 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+= i;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console.log(total(10));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파이썬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자바스크립트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생각(알고리즘)은 같고 말투(문법)만 다르다 — 10개 언어 비교는 3장 (모두 실행 확인)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모든 언어의 4가지 뼈대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변수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이름표 붙은 상자</a:t>
            </a:r>
            <a:endParaRPr lang="en-US" sz="1300" dirty="0"/>
          </a:p>
        </p:txBody>
      </p:sp>
      <p:sp>
        <p:nvSpPr>
          <p:cNvPr id="8" name="codebox"/>
          <p:cNvSpPr/>
          <p:nvPr/>
        </p:nvSpPr>
        <p:spPr>
          <a:xfrm>
            <a:off x="566928" y="2423160"/>
            <a:ext cx="1700784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5603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900" dirty="0"/>
          </a:p>
        </p:txBody>
      </p:sp>
      <p:sp>
        <p:nvSpPr>
          <p:cNvPr id="10" name="card"/>
          <p:cNvSpPr/>
          <p:nvPr/>
        </p:nvSpPr>
        <p:spPr>
          <a:xfrm>
            <a:off x="2560320" y="12344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1" name="badge2"/>
          <p:cNvSpPr/>
          <p:nvPr/>
        </p:nvSpPr>
        <p:spPr>
          <a:xfrm>
            <a:off x="2743200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43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조건문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갈림길</a:t>
            </a:r>
            <a:endParaRPr lang="en-US" sz="1300" dirty="0"/>
          </a:p>
        </p:txBody>
      </p:sp>
      <p:sp>
        <p:nvSpPr>
          <p:cNvPr id="15" name="codebox"/>
          <p:cNvSpPr/>
          <p:nvPr/>
        </p:nvSpPr>
        <p:spPr>
          <a:xfrm>
            <a:off x="2670048" y="2423160"/>
            <a:ext cx="1700784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52928" y="25603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90:</a:t>
            </a:r>
            <a:endParaRPr lang="en-US" sz="900" dirty="0"/>
          </a:p>
        </p:txBody>
      </p:sp>
      <p:sp>
        <p:nvSpPr>
          <p:cNvPr id="17" name="card"/>
          <p:cNvSpPr/>
          <p:nvPr/>
        </p:nvSpPr>
        <p:spPr>
          <a:xfrm>
            <a:off x="4663440" y="12344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8" name="badge3"/>
          <p:cNvSpPr/>
          <p:nvPr/>
        </p:nvSpPr>
        <p:spPr>
          <a:xfrm>
            <a:off x="4846320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반복문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컨베이어</a:t>
            </a:r>
            <a:endParaRPr lang="en-US" sz="1300" dirty="0"/>
          </a:p>
        </p:txBody>
      </p:sp>
      <p:sp>
        <p:nvSpPr>
          <p:cNvPr id="22" name="codebox"/>
          <p:cNvSpPr/>
          <p:nvPr/>
        </p:nvSpPr>
        <p:spPr>
          <a:xfrm>
            <a:off x="4773168" y="2423160"/>
            <a:ext cx="1700784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56048" y="25603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900" dirty="0"/>
          </a:p>
        </p:txBody>
      </p:sp>
      <p:sp>
        <p:nvSpPr>
          <p:cNvPr id="24" name="card"/>
          <p:cNvSpPr/>
          <p:nvPr/>
        </p:nvSpPr>
        <p:spPr>
          <a:xfrm>
            <a:off x="6766560" y="12344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5" name="badge4"/>
          <p:cNvSpPr/>
          <p:nvPr/>
        </p:nvSpPr>
        <p:spPr>
          <a:xfrm>
            <a:off x="6949440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함수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레시피 카드</a:t>
            </a:r>
            <a:endParaRPr lang="en-US" sz="1300" dirty="0"/>
          </a:p>
        </p:txBody>
      </p:sp>
      <p:sp>
        <p:nvSpPr>
          <p:cNvPr id="29" name="codebox"/>
          <p:cNvSpPr/>
          <p:nvPr/>
        </p:nvSpPr>
        <p:spPr>
          <a:xfrm>
            <a:off x="6876288" y="2423160"/>
            <a:ext cx="1700784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59168" y="25603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900" dirty="0"/>
          </a:p>
        </p:txBody>
      </p:sp>
      <p:sp>
        <p:nvSpPr>
          <p:cNvPr id="31" name="card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초보자 실수 1위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"10"(글자) ≠ 10(숫자)   ·   = (넣기) ≠ == (비교)   ·   range(1, 5)는 1~4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데이터 묶음: 리스트와 딕셔너리</a:t>
            </a:r>
            <a:endParaRPr lang="en-US" sz="2800" dirty="0"/>
          </a:p>
        </p:txBody>
      </p:sp>
      <p:sp>
        <p:nvSpPr>
          <p:cNvPr id="3" name="codebox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["사과", "포도"]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fruits[0]        # 사과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fruits.append("딸기")</a:t>
            </a:r>
            <a:endParaRPr lang="en-US" sz="1200" dirty="0"/>
          </a:p>
        </p:txBody>
      </p:sp>
      <p:sp>
        <p:nvSpPr>
          <p:cNvPr id="5" name="codebox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325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= {"name": "민수",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"age": 20}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person["name"]   # 민수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리스트: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번호로 찾기, 번호는 0부터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딕셔너리: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이름(키)으로 찾기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383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둘을 섞으면 = 실제 데이터 모양 (JSON)   [{"name": "쿠키", "price": 3000}, ...]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오류는 친절한 편지: 맨 아래 줄부터 읽기</a:t>
            </a:r>
            <a:endParaRPr lang="en-US" sz="2800" dirty="0"/>
          </a:p>
        </p:txBody>
      </p:sp>
      <p:sp>
        <p:nvSpPr>
          <p:cNvPr id="3" name="codebox"/>
          <p:cNvSpPr/>
          <p:nvPr/>
        </p:nvSpPr>
        <p:spPr>
          <a:xfrm>
            <a:off x="457200" y="1188720"/>
            <a:ext cx="4572000" cy="155448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"test.py", line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print(10 /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ZeroDivisionError: division by zero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3383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흔한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SyntaxError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괄호·따옴표·콜론 빠짐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NameError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변수 이름 오타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TypeError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"10" + 5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IndexError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번호 범위 밖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고치는 순서</a:t>
            </a:r>
            <a:endParaRPr lang="en-US" sz="1500" dirty="0"/>
          </a:p>
        </p:txBody>
      </p:sp>
      <p:sp>
        <p:nvSpPr>
          <p:cNvPr id="7" name="badge1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맨 아래 줄 읽기</a:t>
            </a:r>
            <a:endParaRPr lang="en-US" sz="1300" dirty="0"/>
          </a:p>
        </p:txBody>
      </p:sp>
      <p:sp>
        <p:nvSpPr>
          <p:cNvPr id="10" name="badge2"/>
          <p:cNvSpPr/>
          <p:nvPr/>
        </p:nvSpPr>
        <p:spPr>
          <a:xfrm>
            <a:off x="2560320" y="3474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5603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35808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줄 번호로 가기</a:t>
            </a:r>
            <a:endParaRPr lang="en-US" sz="1300" dirty="0"/>
          </a:p>
        </p:txBody>
      </p:sp>
      <p:sp>
        <p:nvSpPr>
          <p:cNvPr id="13" name="badge3"/>
          <p:cNvSpPr/>
          <p:nvPr/>
        </p:nvSpPr>
        <p:spPr>
          <a:xfrm>
            <a:off x="4663440" y="3474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634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38928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print로 값 확인</a:t>
            </a:r>
            <a:endParaRPr lang="en-US" sz="1300" dirty="0"/>
          </a:p>
        </p:txBody>
      </p:sp>
      <p:sp>
        <p:nvSpPr>
          <p:cNvPr id="16" name="badge4"/>
          <p:cNvSpPr/>
          <p:nvPr/>
        </p:nvSpPr>
        <p:spPr>
          <a:xfrm>
            <a:off x="6766560" y="3474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7665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242048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오류 문장 검색·AI 질문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객체지향: 붕어빵 틀과 붕어빵</a:t>
            </a:r>
            <a:endParaRPr lang="en-US" sz="2800" dirty="0"/>
          </a:p>
        </p:txBody>
      </p:sp>
      <p:sp>
        <p:nvSpPr>
          <p:cNvPr id="3" name="codebox"/>
          <p:cNvSpPr/>
          <p:nvPr/>
        </p:nvSpPr>
        <p:spPr>
          <a:xfrm>
            <a:off x="457200" y="1188720"/>
            <a:ext cx="4206240" cy="2651760"/>
          </a:xfrm>
          <a:prstGeom prst="roundRect">
            <a:avLst>
              <a:gd name="adj" fmla="val 206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bark(self):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print(self.name, "멍멍!")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choco = Dog("초코")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choco.bark()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937760" y="1188720"/>
            <a:ext cx="37490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20640" y="11887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클래스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틀(설계도)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937760" y="1874520"/>
            <a:ext cx="37490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0" y="18745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객체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찍어 낸 붕어빵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937760" y="2560320"/>
            <a:ext cx="37490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5603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속성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60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가진 데이터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937760" y="3246120"/>
            <a:ext cx="37490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32461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메서드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할 수 있는 행동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4가지 핵심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캡슐화 · 상속 · 다형성 · 추상화   (상속보다 조합을 더 자주)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빅오: 데이터 100만 개일 때 일하는 양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" name="bo0"/>
          <p:cNvSpPr/>
          <p:nvPr/>
        </p:nvSpPr>
        <p:spPr>
          <a:xfrm>
            <a:off x="548640" y="1216152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2E9C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161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O(1)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143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1번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1430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사물함 번호로 열기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57200" y="180136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9" name="bo1"/>
          <p:cNvSpPr/>
          <p:nvPr/>
        </p:nvSpPr>
        <p:spPr>
          <a:xfrm>
            <a:off x="548640" y="1874520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2E9C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O(log n)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801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약 20번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013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사전 찾기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459736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4" name="bo2"/>
          <p:cNvSpPr/>
          <p:nvPr/>
        </p:nvSpPr>
        <p:spPr>
          <a:xfrm>
            <a:off x="548640" y="2532888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1F4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5328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O(n)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4597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100만 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4597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한 명씩 확인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118104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9" name="bo3"/>
          <p:cNvSpPr/>
          <p:nvPr/>
        </p:nvSpPr>
        <p:spPr>
          <a:xfrm>
            <a:off x="548640" y="3191256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1F4E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1912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O(n log n)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31181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약 2천만 번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118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좋은 정렬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57200" y="3776472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4" name="bo4"/>
          <p:cNvSpPr/>
          <p:nvPr/>
        </p:nvSpPr>
        <p:spPr>
          <a:xfrm>
            <a:off x="548640" y="3849624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D953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9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O(n²)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37764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1조 번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37764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모두가 서로 악수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같은 결과라도 방법에 따라 1초 vs 1시간 — 코딩 테스트의 핵심 주제 (7장)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어떤 자료구조를 고를까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리스트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번호로 꺼내기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순위표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스택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마지막 것부터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뒤로 가기 · Ctrl+Z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큐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먼저 온 것부터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주문 대기열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5720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해시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55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이름으로 빨리 찾기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회원 ID 찾기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324612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2900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트리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355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계층 · 정렬된 검색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703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폴더 · DB 인덱스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603504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그래프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355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연결 · 경로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03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지하철 · 길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개발자의 기본 도구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4538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터미널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글자로 명령하기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4846320" y="14538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188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VS Code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코드 편집기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240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 · GitHub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코드 타임머신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4846320" y="25054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240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패키지 관리자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pip · npm 등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5720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640080" y="35570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291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디버거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32918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중단점 찍고 값 보기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466344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badge6"/>
          <p:cNvSpPr/>
          <p:nvPr/>
        </p:nvSpPr>
        <p:spPr>
          <a:xfrm>
            <a:off x="4846320" y="35570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4632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3291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테스트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2918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자동으로 맞는지 확인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디버깅 순서: 재현 → 범위 좁히기 → 가설 → 확인 → 고치고 테스트 추가 (8장)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웹 = 요청과 응답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브라우저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675120" y="11887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1887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서버 + DB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요청: GET /api/products  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←  응답: 200 OK + JSON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30175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2xx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성공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2560320" y="30175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3xx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이동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663440" y="30175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4xx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손님 쪽 문제 (404)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766560" y="30175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5xx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서버 쪽 문제 (500)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SQL: 데이터베이스에 묻는 언어</a:t>
            </a:r>
            <a:endParaRPr lang="en-US" sz="2800" dirty="0"/>
          </a:p>
        </p:txBody>
      </p:sp>
      <p:sp>
        <p:nvSpPr>
          <p:cNvPr id="3" name="codebox"/>
          <p:cNvSpPr/>
          <p:nvPr/>
        </p:nvSpPr>
        <p:spPr>
          <a:xfrm>
            <a:off x="457200" y="1188720"/>
            <a:ext cx="4754880" cy="201168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price FROM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price &lt; 10000;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products (name, price)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('주스', 4500);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products SET price = 3500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name = '쿠키';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394960" y="1188720"/>
            <a:ext cx="32918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7784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CRUD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783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만들기 INSERT · 읽기 SELECT · 고치기 UPDATE · 지우기 DELETE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290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사고 방지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WHERE 빠지면 표 전체가 바뀜 · 손님 입력은 자리표시자(?)로 → 인젝션 차단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메모리는 누가 치우나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mem0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3441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직접 치우기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· C++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빠르고 정밀 ↔ 잊으면 누수, 실수하면 보안 구멍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mem1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13441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청소부 (GC)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자바 · 파이썬 · JS · Go · C#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편하고 안전 ↔ 청소할 때 잠깐 멈출 수 있음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mem2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13441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소유권 규칙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러스트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빠르고 안전 ↔ 규칙이 엄격해 배우기 어려움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스택 = 책상 위 메모지(자동 정리) · 힙 = 창고(누군가 치워야 함)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동시성: 빠르지만 함정이 있다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경쟁 상태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두 명이 재고 1개를 동시에 판매 → 재고 -1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해결: 락 · DB 트랜잭션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교착 상태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좁은 골목에서 서로 비켜 주길 기다림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해결: 자원 잡는 순서 통일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성능 개선 순서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측정 → 알고리즘·자료구조 → 불필요한 반복 제거 → 캐시 → 더 빠른 언어·병렬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입문에서 고수까지: 고민이 달라진다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3108960"/>
            <a:ext cx="15544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입문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왜 오류가 나지?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130552" y="2697480"/>
            <a:ext cx="1554480" cy="16916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21992" y="28072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초급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어떻게 만들지?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803904" y="2286000"/>
            <a:ext cx="1554480" cy="2103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95344" y="2395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중급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어떻게 정리하지?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77256" y="1874520"/>
            <a:ext cx="1554480" cy="25146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68696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고급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68696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왜 느리지? 어디서 터지지?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7150608" y="1463040"/>
            <a:ext cx="1554480" cy="29260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42048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고수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011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1년 뒤에도 고치기 쉬울까?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고수 = 여러 사람이 오래 고쳐도 안 무너지는 시스템을 만드는 사람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고수들의 설계 상식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원칙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SOLID — 한 가지 책임, 갈아 끼우기 쉽게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KISS — 단순하게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YAGNI — 지금 필요 없는 건 만들지 않기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DRY — 같은 지식을 두 곳에 두지 않기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코드 리뷰 · 테스트 · 리팩터링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006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큰 서비스의 부품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7830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로드 밸런서 — 손님 나눠 보내기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서버 여러 대 (수평 확장)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캐시 · 메시지 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DB 복제 · 샤딩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작은 팀은 단순한 한 덩어리로 시작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AI 코딩 도구: 빠른 후배처럼 쓰기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ai0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3E9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441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잘 쓰는 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오류 원인·코드 설명 요청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작게 나눠 맡기기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목표·제약·완료 기준을 구체적으로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테스트 작성 맡기고 직접 검토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ai1"/>
          <p:cNvSpPr/>
          <p:nvPr/>
        </p:nvSpPr>
        <p:spPr>
          <a:xfrm>
            <a:off x="4892040" y="137160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3441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위험한 쓰는 법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이해 못 한 코드 그대로 붙여 넣기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비밀번호·회사 비밀 입력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테스트 없이 배포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처음부터 다 맡기기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설계 판단 · 결과 검증 · 최종 책임은 사람에게 — 기초를 아는 사람이 AI를 더 잘 쓴다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진로별 첫 언어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가고 싶은 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첫 언어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이어서 배울 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웹 프론트엔드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HTML/CSS + JS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타입스크립트 · React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백엔드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자바 / 파이썬 / TS / 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SQL · API · 리눅스 · 도커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모바일 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코틀린 / 스위프트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Flutter · 앱 배포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게임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C# (유니티) / C++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수학 · 네트워크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 · 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파이썬 + SQL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pandas · PyTorch · AI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임베디드 · 보안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운영체제 · 네트워크 · 어셈블리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실력은 강의 수가 아니라 완성해서 배포한 프로젝트 수로 쌓인다 (12장)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작게 만들고, 끝까지 완성하기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숫자 맞히기 게임 → 가계부 → 자기소개 웹페이지 → 할 일 앱 + 서버 → 오목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다음 할 일: docs/coding/04-basics-1.md 를 열고 예제를 직접 쳐 보기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efront">
  <a:themeElements>
    <a:clrScheme name="Storefront">
      <a:dk1>
        <a:srgbClr val="1B2B2E"/>
      </a:dk1>
      <a:lt1>
        <a:srgbClr val="FFFFFF"/>
      </a:lt1>
      <a:dk2>
        <a:srgbClr val="1F4E4A"/>
      </a:dk2>
      <a:lt2>
        <a:srgbClr val="EEF4F3"/>
      </a:lt2>
      <a:accent1>
        <a:srgbClr val="1F4E4A"/>
      </a:accent1>
      <a:accent2>
        <a:srgbClr val="F08A3E"/>
      </a:accent2>
      <a:accent3>
        <a:srgbClr val="2E9C8F"/>
      </a:accent3>
      <a:accent4>
        <a:srgbClr val="7A8C8E"/>
      </a:accent4>
      <a:accent5>
        <a:srgbClr val="D9534F"/>
      </a:accent5>
      <a:accent6>
        <a:srgbClr val="F4C95D"/>
      </a:accent6>
      <a:hlink>
        <a:srgbClr val="2E9C8F"/>
      </a:hlink>
      <a:folHlink>
        <a:srgbClr val="7A8C8E"/>
      </a:folHlink>
    </a:clrScheme>
    <a:fontScheme name="Storefron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101</dc:title>
  <dc:subject>PptxGenJS Presentation</dc:subject>
  <dc:creator>PptxGenJS</dc:creator>
  <cp:lastModifiedBy>PptxGenJS</cp:lastModifiedBy>
  <cp:revision>1</cp:revision>
  <dcterms:created xsi:type="dcterms:W3CDTF">2026-10-28T08:05:00Z</dcterms:created>
  <dcterms:modified xsi:type="dcterms:W3CDTF">2026-10-28T08:05:00Z</dcterms:modified>
</cp:coreProperties>
</file>